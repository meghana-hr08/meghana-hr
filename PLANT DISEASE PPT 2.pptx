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753600" cy="7315200"/>
  <p:notesSz cx="6858000" cy="9144000"/>
  <p:embeddedFontLst>
    <p:embeddedFont>
      <p:font typeface="Calibri (MS)" charset="0"/>
      <p:regular r:id="rId18"/>
    </p:embeddedFont>
    <p:embeddedFont>
      <p:font typeface="Canva Sans Bold" charset="0"/>
      <p:regular r:id="rId19"/>
    </p:embeddedFont>
    <p:embeddedFont>
      <p:font typeface="Calibri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-1421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6055" y="561051"/>
            <a:ext cx="3426390" cy="1280385"/>
            <a:chOff x="0" y="0"/>
            <a:chExt cx="4568520" cy="17071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8515" cy="1707175"/>
            </a:xfrm>
            <a:custGeom>
              <a:avLst/>
              <a:gdLst/>
              <a:ahLst/>
              <a:cxnLst/>
              <a:rect l="l" t="t" r="r" b="b"/>
              <a:pathLst>
                <a:path w="4568515" h="1707175">
                  <a:moveTo>
                    <a:pt x="0" y="0"/>
                  </a:moveTo>
                  <a:lnTo>
                    <a:pt x="4568515" y="0"/>
                  </a:lnTo>
                  <a:lnTo>
                    <a:pt x="4568515" y="1707175"/>
                  </a:lnTo>
                  <a:lnTo>
                    <a:pt x="0" y="1707175"/>
                  </a:lnTo>
                  <a:close/>
                </a:path>
              </a:pathLst>
            </a:custGeom>
            <a:blipFill>
              <a:blip r:embed="rId2" cstate="print">
                <a:alphaModFix amt="0"/>
              </a:blip>
              <a:stretch>
                <a:fillRect t="-2143" b="-21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568520" cy="17357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2995"/>
                </a:lnSpc>
              </a:pPr>
              <a:r>
                <a:rPr lang="en-US" sz="277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 Disease Detection Using NVIDIA GPU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3224" y="2074574"/>
            <a:ext cx="3218688" cy="29261"/>
            <a:chOff x="0" y="0"/>
            <a:chExt cx="4291584" cy="39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91584" cy="38989"/>
            </a:xfrm>
            <a:custGeom>
              <a:avLst/>
              <a:gdLst/>
              <a:ahLst/>
              <a:cxnLst/>
              <a:rect l="l" t="t" r="r" b="b"/>
              <a:pathLst>
                <a:path w="4291584" h="38989">
                  <a:moveTo>
                    <a:pt x="4291584" y="0"/>
                  </a:moveTo>
                  <a:lnTo>
                    <a:pt x="0" y="0"/>
                  </a:lnTo>
                  <a:lnTo>
                    <a:pt x="0" y="38989"/>
                  </a:lnTo>
                  <a:lnTo>
                    <a:pt x="4291584" y="38989"/>
                  </a:lnTo>
                  <a:close/>
                </a:path>
              </a:pathLst>
            </a:custGeom>
            <a:solidFill>
              <a:srgbClr val="8064A2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286807" y="2166509"/>
            <a:ext cx="3655628" cy="3746073"/>
            <a:chOff x="0" y="0"/>
            <a:chExt cx="4874171" cy="49947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74173" cy="4994769"/>
            </a:xfrm>
            <a:custGeom>
              <a:avLst/>
              <a:gdLst/>
              <a:ahLst/>
              <a:cxnLst/>
              <a:rect l="l" t="t" r="r" b="b"/>
              <a:pathLst>
                <a:path w="4874173" h="4994769">
                  <a:moveTo>
                    <a:pt x="0" y="0"/>
                  </a:moveTo>
                  <a:lnTo>
                    <a:pt x="4874173" y="0"/>
                  </a:lnTo>
                  <a:lnTo>
                    <a:pt x="4874173" y="4994769"/>
                  </a:lnTo>
                  <a:lnTo>
                    <a:pt x="0" y="49947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477" r="-8147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4874171" cy="50138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1" indent="0" algn="l">
                <a:lnSpc>
                  <a:spcPts val="1843"/>
                </a:lnSpc>
                <a:buFont typeface="Arial"/>
                <a:buChar char="•"/>
              </a:pPr>
              <a:r>
                <a:rPr lang="en-US" sz="1706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BY:</a:t>
              </a:r>
            </a:p>
            <a:p>
              <a:pPr marL="0" lvl="1" indent="0" algn="l">
                <a:lnSpc>
                  <a:spcPts val="1843"/>
                </a:lnSpc>
              </a:pPr>
              <a:endParaRPr lang="en-US" sz="170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0" lvl="1" indent="0" algn="l">
                <a:lnSpc>
                  <a:spcPts val="1843"/>
                </a:lnSpc>
                <a:buFont typeface="Arial"/>
                <a:buChar char="•"/>
              </a:pPr>
              <a:r>
                <a:rPr lang="en-US" sz="1706" dirty="0" err="1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Meghana</a:t>
              </a:r>
              <a:r>
                <a:rPr lang="en-US" sz="1706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HR</a:t>
              </a:r>
              <a:r>
                <a:rPr lang="en-US" sz="1706" dirty="0" smtClean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– 20241CAI0008</a:t>
              </a:r>
              <a:endParaRPr lang="en-US" sz="170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0" lvl="1" indent="0" algn="l">
                <a:lnSpc>
                  <a:spcPts val="1843"/>
                </a:lnSpc>
              </a:pPr>
              <a:endParaRPr lang="en-US" sz="170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0" lvl="1" indent="0" algn="l">
                <a:lnSpc>
                  <a:spcPts val="1843"/>
                </a:lnSpc>
              </a:pPr>
              <a:endParaRPr lang="en-US" sz="170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-279425" y="6477467"/>
            <a:ext cx="790042" cy="123301"/>
            <a:chOff x="0" y="0"/>
            <a:chExt cx="1053389" cy="1644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3338" cy="164338"/>
            </a:xfrm>
            <a:custGeom>
              <a:avLst/>
              <a:gdLst/>
              <a:ahLst/>
              <a:cxnLst/>
              <a:rect l="l" t="t" r="r" b="b"/>
              <a:pathLst>
                <a:path w="1053338" h="164338">
                  <a:moveTo>
                    <a:pt x="0" y="0"/>
                  </a:moveTo>
                  <a:lnTo>
                    <a:pt x="1053338" y="0"/>
                  </a:lnTo>
                  <a:lnTo>
                    <a:pt x="1053338" y="164338"/>
                  </a:lnTo>
                  <a:lnTo>
                    <a:pt x="0" y="164338"/>
                  </a:lnTo>
                  <a:close/>
                </a:path>
              </a:pathLst>
            </a:custGeom>
            <a:solidFill>
              <a:srgbClr val="8064A2"/>
            </a:solid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4625188" y="1807350"/>
            <a:ext cx="790042" cy="9466793"/>
            <a:chOff x="0" y="0"/>
            <a:chExt cx="1053389" cy="12622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3338" cy="12622403"/>
            </a:xfrm>
            <a:custGeom>
              <a:avLst/>
              <a:gdLst/>
              <a:ahLst/>
              <a:cxnLst/>
              <a:rect l="l" t="t" r="r" b="b"/>
              <a:pathLst>
                <a:path w="1053338" h="12622403">
                  <a:moveTo>
                    <a:pt x="0" y="0"/>
                  </a:moveTo>
                  <a:lnTo>
                    <a:pt x="1053338" y="0"/>
                  </a:lnTo>
                  <a:lnTo>
                    <a:pt x="1053338" y="12622403"/>
                  </a:lnTo>
                  <a:lnTo>
                    <a:pt x="0" y="12622403"/>
                  </a:lnTo>
                  <a:close/>
                </a:path>
              </a:pathLst>
            </a:custGeom>
            <a:solidFill>
              <a:srgbClr val="8064A2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4557436" y="378619"/>
            <a:ext cx="4947980" cy="5767107"/>
            <a:chOff x="0" y="0"/>
            <a:chExt cx="6597307" cy="76894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97269" cy="7689463"/>
            </a:xfrm>
            <a:custGeom>
              <a:avLst/>
              <a:gdLst/>
              <a:ahLst/>
              <a:cxnLst/>
              <a:rect l="l" t="t" r="r" b="b"/>
              <a:pathLst>
                <a:path w="6597269" h="7689463">
                  <a:moveTo>
                    <a:pt x="0" y="0"/>
                  </a:moveTo>
                  <a:lnTo>
                    <a:pt x="6597269" y="0"/>
                  </a:lnTo>
                  <a:lnTo>
                    <a:pt x="6597269" y="7689463"/>
                  </a:lnTo>
                  <a:lnTo>
                    <a:pt x="0" y="76894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4790189" y="1282198"/>
            <a:ext cx="4502410" cy="4502410"/>
            <a:chOff x="0" y="0"/>
            <a:chExt cx="6003214" cy="600321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03163" cy="6003163"/>
            </a:xfrm>
            <a:custGeom>
              <a:avLst/>
              <a:gdLst/>
              <a:ahLst/>
              <a:cxnLst/>
              <a:rect l="l" t="t" r="r" b="b"/>
              <a:pathLst>
                <a:path w="6003163" h="6003163">
                  <a:moveTo>
                    <a:pt x="0" y="0"/>
                  </a:moveTo>
                  <a:lnTo>
                    <a:pt x="6003163" y="0"/>
                  </a:lnTo>
                  <a:lnTo>
                    <a:pt x="6003163" y="6003163"/>
                  </a:lnTo>
                  <a:lnTo>
                    <a:pt x="0" y="6003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7429" y="1415177"/>
            <a:ext cx="4251627" cy="1060447"/>
            <a:chOff x="0" y="0"/>
            <a:chExt cx="5668836" cy="14139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68838" cy="1413934"/>
            </a:xfrm>
            <a:custGeom>
              <a:avLst/>
              <a:gdLst/>
              <a:ahLst/>
              <a:cxnLst/>
              <a:rect l="l" t="t" r="r" b="b"/>
              <a:pathLst>
                <a:path w="5668838" h="1413934">
                  <a:moveTo>
                    <a:pt x="0" y="0"/>
                  </a:moveTo>
                  <a:lnTo>
                    <a:pt x="5668838" y="0"/>
                  </a:lnTo>
                  <a:lnTo>
                    <a:pt x="5668838" y="1413934"/>
                  </a:lnTo>
                  <a:lnTo>
                    <a:pt x="0" y="1413934"/>
                  </a:lnTo>
                  <a:close/>
                </a:path>
              </a:pathLst>
            </a:custGeom>
            <a:blipFill>
              <a:blip r:embed="rId2" cstate="print">
                <a:alphaModFix amt="0"/>
              </a:blip>
              <a:stretch>
                <a:fillRect t="-28120" b="-2812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668836" cy="1442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71"/>
                </a:lnSpc>
              </a:pPr>
              <a:r>
                <a:rPr lang="en-US" sz="330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 Disease Detection Using NVIDIA GPU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78869" y="2622394"/>
            <a:ext cx="4068756" cy="300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612"/>
              </a:lnSpc>
              <a:buFont typeface="Arial"/>
              <a:buChar char="•"/>
            </a:pPr>
            <a:r>
              <a:rPr lang="en-US" sz="149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AI helps detect plant diseases automatically.</a:t>
            </a:r>
          </a:p>
          <a:p>
            <a:pPr marL="0" lvl="1" indent="0" algn="l">
              <a:lnSpc>
                <a:spcPts val="1612"/>
              </a:lnSpc>
              <a:buFont typeface="Arial"/>
              <a:buChar char="•"/>
            </a:pPr>
            <a:r>
              <a:rPr lang="en-US" sz="149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Deep learning improves disease prediction.</a:t>
            </a:r>
          </a:p>
          <a:p>
            <a:pPr marL="0" lvl="1" indent="0" algn="l">
              <a:lnSpc>
                <a:spcPts val="1612"/>
              </a:lnSpc>
              <a:buFont typeface="Arial"/>
              <a:buChar char="•"/>
            </a:pPr>
            <a:r>
              <a:rPr lang="en-US" sz="149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NVIDIA GPU increases processing speed.</a:t>
            </a:r>
          </a:p>
          <a:p>
            <a:pPr marL="0" lvl="1" indent="0" algn="l">
              <a:lnSpc>
                <a:spcPts val="1612"/>
              </a:lnSpc>
              <a:buFont typeface="Arial"/>
              <a:buChar char="•"/>
            </a:pPr>
            <a:r>
              <a:rPr lang="en-US" sz="149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supports smart agriculture.</a:t>
            </a:r>
          </a:p>
          <a:p>
            <a:pPr marL="0" lvl="1" indent="0" algn="l">
              <a:lnSpc>
                <a:spcPts val="1612"/>
              </a:lnSpc>
              <a:buFont typeface="Arial"/>
              <a:buChar char="•"/>
            </a:pPr>
            <a:r>
              <a:rPr lang="en-US" sz="149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Early detection reduces crop damage.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714237" y="0"/>
            <a:ext cx="5039363" cy="5246942"/>
            <a:chOff x="0" y="0"/>
            <a:chExt cx="6719151" cy="69959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19189" cy="6995922"/>
            </a:xfrm>
            <a:custGeom>
              <a:avLst/>
              <a:gdLst/>
              <a:ahLst/>
              <a:cxnLst/>
              <a:rect l="l" t="t" r="r" b="b"/>
              <a:pathLst>
                <a:path w="6719189" h="6995922">
                  <a:moveTo>
                    <a:pt x="6719189" y="0"/>
                  </a:moveTo>
                  <a:lnTo>
                    <a:pt x="1164463" y="0"/>
                  </a:lnTo>
                  <a:lnTo>
                    <a:pt x="942340" y="244475"/>
                  </a:lnTo>
                  <a:cubicBezTo>
                    <a:pt x="353568" y="957834"/>
                    <a:pt x="0" y="1872234"/>
                    <a:pt x="0" y="2869311"/>
                  </a:cubicBezTo>
                  <a:cubicBezTo>
                    <a:pt x="0" y="5148453"/>
                    <a:pt x="1847469" y="6995922"/>
                    <a:pt x="4126611" y="6995922"/>
                  </a:cubicBezTo>
                  <a:cubicBezTo>
                    <a:pt x="4981194" y="6995922"/>
                    <a:pt x="5775198" y="6736080"/>
                    <a:pt x="6433820" y="6291199"/>
                  </a:cubicBezTo>
                  <a:lnTo>
                    <a:pt x="6719189" y="6077839"/>
                  </a:ln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864598" y="1610"/>
            <a:ext cx="4889002" cy="5080435"/>
            <a:chOff x="0" y="0"/>
            <a:chExt cx="6518669" cy="67739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18656" cy="6773926"/>
            </a:xfrm>
            <a:custGeom>
              <a:avLst/>
              <a:gdLst/>
              <a:ahLst/>
              <a:cxnLst/>
              <a:rect l="l" t="t" r="r" b="b"/>
              <a:pathLst>
                <a:path w="6518656" h="6773926">
                  <a:moveTo>
                    <a:pt x="1247394" y="0"/>
                  </a:moveTo>
                  <a:lnTo>
                    <a:pt x="6518656" y="0"/>
                  </a:lnTo>
                  <a:lnTo>
                    <a:pt x="6518656" y="5774436"/>
                  </a:lnTo>
                  <a:lnTo>
                    <a:pt x="6330950" y="5939028"/>
                  </a:lnTo>
                  <a:cubicBezTo>
                    <a:pt x="5665470" y="6462014"/>
                    <a:pt x="4826254" y="6773926"/>
                    <a:pt x="3914267" y="6773926"/>
                  </a:cubicBezTo>
                  <a:cubicBezTo>
                    <a:pt x="1752473" y="6773926"/>
                    <a:pt x="0" y="5021453"/>
                    <a:pt x="0" y="2859532"/>
                  </a:cubicBezTo>
                  <a:cubicBezTo>
                    <a:pt x="0" y="1778635"/>
                    <a:pt x="438150" y="800100"/>
                    <a:pt x="1146429" y="916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92" b="-902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0897" y="2148440"/>
            <a:ext cx="797433" cy="797433"/>
            <a:chOff x="0" y="0"/>
            <a:chExt cx="1063244" cy="10632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3244" cy="1063244"/>
            </a:xfrm>
            <a:custGeom>
              <a:avLst/>
              <a:gdLst/>
              <a:ahLst/>
              <a:cxnLst/>
              <a:rect l="l" t="t" r="r" b="b"/>
              <a:pathLst>
                <a:path w="1063244" h="1063244">
                  <a:moveTo>
                    <a:pt x="0" y="0"/>
                  </a:moveTo>
                  <a:lnTo>
                    <a:pt x="1063244" y="0"/>
                  </a:lnTo>
                  <a:lnTo>
                    <a:pt x="1063244" y="1063244"/>
                  </a:lnTo>
                  <a:lnTo>
                    <a:pt x="0" y="1063244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998601" y="3188341"/>
            <a:ext cx="1722034" cy="72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Plant diseases affect crop productivity.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472358" y="2148440"/>
            <a:ext cx="797433" cy="797433"/>
            <a:chOff x="0" y="0"/>
            <a:chExt cx="1063244" cy="10632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3244" cy="1063244"/>
            </a:xfrm>
            <a:custGeom>
              <a:avLst/>
              <a:gdLst/>
              <a:ahLst/>
              <a:cxnLst/>
              <a:rect l="l" t="t" r="r" b="b"/>
              <a:pathLst>
                <a:path w="1063244" h="1063244">
                  <a:moveTo>
                    <a:pt x="0" y="0"/>
                  </a:moveTo>
                  <a:lnTo>
                    <a:pt x="1063244" y="0"/>
                  </a:lnTo>
                  <a:lnTo>
                    <a:pt x="1063244" y="1063244"/>
                  </a:lnTo>
                  <a:lnTo>
                    <a:pt x="0" y="1063244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3010052" y="3188341"/>
            <a:ext cx="1722034" cy="72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detection takes more time.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483809" y="2148440"/>
            <a:ext cx="797433" cy="797433"/>
            <a:chOff x="0" y="0"/>
            <a:chExt cx="1063244" cy="10632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3244" cy="1063244"/>
            </a:xfrm>
            <a:custGeom>
              <a:avLst/>
              <a:gdLst/>
              <a:ahLst/>
              <a:cxnLst/>
              <a:rect l="l" t="t" r="r" b="b"/>
              <a:pathLst>
                <a:path w="1063244" h="1063244">
                  <a:moveTo>
                    <a:pt x="0" y="0"/>
                  </a:moveTo>
                  <a:lnTo>
                    <a:pt x="1063244" y="0"/>
                  </a:lnTo>
                  <a:lnTo>
                    <a:pt x="1063244" y="1063244"/>
                  </a:lnTo>
                  <a:lnTo>
                    <a:pt x="0" y="1063244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5021513" y="3188341"/>
            <a:ext cx="1722034" cy="72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automates disease identification.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495261" y="2148440"/>
            <a:ext cx="797433" cy="797433"/>
            <a:chOff x="0" y="0"/>
            <a:chExt cx="1063244" cy="10632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3244" cy="1063244"/>
            </a:xfrm>
            <a:custGeom>
              <a:avLst/>
              <a:gdLst/>
              <a:ahLst/>
              <a:cxnLst/>
              <a:rect l="l" t="t" r="r" b="b"/>
              <a:pathLst>
                <a:path w="1063244" h="1063244">
                  <a:moveTo>
                    <a:pt x="0" y="0"/>
                  </a:moveTo>
                  <a:lnTo>
                    <a:pt x="1063244" y="0"/>
                  </a:lnTo>
                  <a:lnTo>
                    <a:pt x="1063244" y="1063244"/>
                  </a:lnTo>
                  <a:lnTo>
                    <a:pt x="0" y="1063244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7032965" y="3188341"/>
            <a:ext cx="1722034" cy="72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Image processing improves accuracy.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478084" y="4321159"/>
            <a:ext cx="797433" cy="797433"/>
            <a:chOff x="0" y="0"/>
            <a:chExt cx="1063244" cy="10632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3244" cy="1063244"/>
            </a:xfrm>
            <a:custGeom>
              <a:avLst/>
              <a:gdLst/>
              <a:ahLst/>
              <a:cxnLst/>
              <a:rect l="l" t="t" r="r" b="b"/>
              <a:pathLst>
                <a:path w="1063244" h="1063244">
                  <a:moveTo>
                    <a:pt x="0" y="0"/>
                  </a:moveTo>
                  <a:lnTo>
                    <a:pt x="1063244" y="0"/>
                  </a:lnTo>
                  <a:lnTo>
                    <a:pt x="1063244" y="1063244"/>
                  </a:lnTo>
                  <a:lnTo>
                    <a:pt x="0" y="1063244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4015778" y="5361061"/>
            <a:ext cx="1722034" cy="72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Smart farming increases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333817" cy="7315200"/>
            <a:chOff x="0" y="0"/>
            <a:chExt cx="4445089" cy="9753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5127" cy="9753600"/>
            </a:xfrm>
            <a:custGeom>
              <a:avLst/>
              <a:gdLst/>
              <a:ahLst/>
              <a:cxnLst/>
              <a:rect l="l" t="t" r="r" b="b"/>
              <a:pathLst>
                <a:path w="4445127" h="9753600">
                  <a:moveTo>
                    <a:pt x="0" y="0"/>
                  </a:moveTo>
                  <a:lnTo>
                    <a:pt x="2410206" y="0"/>
                  </a:lnTo>
                  <a:lnTo>
                    <a:pt x="2546985" y="116967"/>
                  </a:lnTo>
                  <a:cubicBezTo>
                    <a:pt x="3692144" y="1148461"/>
                    <a:pt x="4445127" y="2895473"/>
                    <a:pt x="4445127" y="4876800"/>
                  </a:cubicBezTo>
                  <a:cubicBezTo>
                    <a:pt x="4445127" y="6858127"/>
                    <a:pt x="3692144" y="8605139"/>
                    <a:pt x="2546985" y="9636633"/>
                  </a:cubicBezTo>
                  <a:lnTo>
                    <a:pt x="2410206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C0504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9469" y="1230478"/>
            <a:ext cx="2560320" cy="4758576"/>
            <a:chOff x="0" y="0"/>
            <a:chExt cx="3413760" cy="63447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0" cy="6344765"/>
            </a:xfrm>
            <a:custGeom>
              <a:avLst/>
              <a:gdLst/>
              <a:ahLst/>
              <a:cxnLst/>
              <a:rect l="l" t="t" r="r" b="b"/>
              <a:pathLst>
                <a:path w="3413760" h="6344765">
                  <a:moveTo>
                    <a:pt x="0" y="0"/>
                  </a:moveTo>
                  <a:lnTo>
                    <a:pt x="3413760" y="0"/>
                  </a:lnTo>
                  <a:lnTo>
                    <a:pt x="3413760" y="6344765"/>
                  </a:lnTo>
                  <a:lnTo>
                    <a:pt x="0" y="63447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8463" r="-18846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3413760" cy="64400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47"/>
                </a:lnSpc>
              </a:pPr>
              <a:r>
                <a:rPr lang="en-US" sz="437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557845" y="630765"/>
            <a:ext cx="5525195" cy="5957992"/>
            <a:chOff x="0" y="0"/>
            <a:chExt cx="7366927" cy="79439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66923" cy="7943992"/>
            </a:xfrm>
            <a:custGeom>
              <a:avLst/>
              <a:gdLst/>
              <a:ahLst/>
              <a:cxnLst/>
              <a:rect l="l" t="t" r="r" b="b"/>
              <a:pathLst>
                <a:path w="7366923" h="7943992">
                  <a:moveTo>
                    <a:pt x="0" y="0"/>
                  </a:moveTo>
                  <a:lnTo>
                    <a:pt x="7366923" y="0"/>
                  </a:lnTo>
                  <a:lnTo>
                    <a:pt x="7366923" y="7943992"/>
                  </a:lnTo>
                  <a:lnTo>
                    <a:pt x="0" y="79439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353" r="-8835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7366927" cy="80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39273" lvl="1" indent="-219637" algn="l">
                <a:lnSpc>
                  <a:spcPts val="4095"/>
                </a:lnSpc>
                <a:buFont typeface="Arial"/>
                <a:buChar char="•"/>
              </a:pPr>
              <a:r>
                <a:rPr lang="en-US" sz="341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Diseases spread quickly in crops.</a:t>
              </a:r>
            </a:p>
            <a:p>
              <a:pPr marL="439273" lvl="1" indent="-219637" algn="l">
                <a:lnSpc>
                  <a:spcPts val="4095"/>
                </a:lnSpc>
                <a:buFont typeface="Arial"/>
                <a:buChar char="•"/>
              </a:pPr>
              <a:r>
                <a:rPr lang="en-US" sz="341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Farmers face huge financial losses.</a:t>
              </a:r>
            </a:p>
            <a:p>
              <a:pPr marL="439273" lvl="1" indent="-219637" algn="l">
                <a:lnSpc>
                  <a:spcPts val="4095"/>
                </a:lnSpc>
                <a:buFont typeface="Arial"/>
                <a:buChar char="•"/>
              </a:pPr>
              <a:r>
                <a:rPr lang="en-US" sz="341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monitoring is difficult.</a:t>
              </a:r>
            </a:p>
            <a:p>
              <a:pPr marL="439273" lvl="1" indent="-219637" algn="l">
                <a:lnSpc>
                  <a:spcPts val="4095"/>
                </a:lnSpc>
                <a:buFont typeface="Arial"/>
                <a:buChar char="•"/>
              </a:pPr>
              <a:r>
                <a:rPr lang="en-US" sz="341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 for faster disease detection.</a:t>
              </a:r>
            </a:p>
            <a:p>
              <a:pPr marL="439273" lvl="1" indent="-219637" algn="l">
                <a:lnSpc>
                  <a:spcPts val="4095"/>
                </a:lnSpc>
                <a:buFont typeface="Arial"/>
                <a:buChar char="•"/>
              </a:pPr>
              <a:r>
                <a:rPr lang="en-US" sz="341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provides real-time analysis.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7434" y="1238707"/>
            <a:ext cx="3202722" cy="5364966"/>
            <a:chOff x="0" y="0"/>
            <a:chExt cx="3842918" cy="6437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2919" cy="6437376"/>
            </a:xfrm>
            <a:custGeom>
              <a:avLst/>
              <a:gdLst/>
              <a:ahLst/>
              <a:cxnLst/>
              <a:rect l="l" t="t" r="r" b="b"/>
              <a:pathLst>
                <a:path w="3842919" h="6437376">
                  <a:moveTo>
                    <a:pt x="0" y="0"/>
                  </a:moveTo>
                  <a:lnTo>
                    <a:pt x="3842919" y="0"/>
                  </a:lnTo>
                  <a:lnTo>
                    <a:pt x="3842919" y="6437376"/>
                  </a:lnTo>
                  <a:lnTo>
                    <a:pt x="0" y="64373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4586" r="-13458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842918" cy="65135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7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Objectives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286963"/>
            <a:ext cx="102413" cy="751027"/>
            <a:chOff x="0" y="0"/>
            <a:chExt cx="136550" cy="10013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525" cy="1001395"/>
            </a:xfrm>
            <a:custGeom>
              <a:avLst/>
              <a:gdLst/>
              <a:ahLst/>
              <a:cxnLst/>
              <a:rect l="l" t="t" r="r" b="b"/>
              <a:pathLst>
                <a:path w="136525" h="1001395">
                  <a:moveTo>
                    <a:pt x="0" y="0"/>
                  </a:moveTo>
                  <a:lnTo>
                    <a:pt x="136525" y="0"/>
                  </a:lnTo>
                  <a:lnTo>
                    <a:pt x="136525" y="1001395"/>
                  </a:lnTo>
                  <a:lnTo>
                    <a:pt x="0" y="1001395"/>
                  </a:lnTo>
                  <a:close/>
                </a:path>
              </a:pathLst>
            </a:custGeom>
            <a:solidFill>
              <a:srgbClr val="C0504D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242816" y="726357"/>
            <a:ext cx="5091379" cy="978703"/>
            <a:chOff x="0" y="0"/>
            <a:chExt cx="6788506" cy="13049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88531" cy="1305052"/>
            </a:xfrm>
            <a:custGeom>
              <a:avLst/>
              <a:gdLst/>
              <a:ahLst/>
              <a:cxnLst/>
              <a:rect l="l" t="t" r="r" b="b"/>
              <a:pathLst>
                <a:path w="6788531" h="1305052">
                  <a:moveTo>
                    <a:pt x="0" y="130556"/>
                  </a:moveTo>
                  <a:cubicBezTo>
                    <a:pt x="0" y="58420"/>
                    <a:pt x="58420" y="0"/>
                    <a:pt x="130556" y="0"/>
                  </a:cubicBezTo>
                  <a:lnTo>
                    <a:pt x="6657975" y="0"/>
                  </a:lnTo>
                  <a:cubicBezTo>
                    <a:pt x="6729984" y="0"/>
                    <a:pt x="6788531" y="58420"/>
                    <a:pt x="6788531" y="130556"/>
                  </a:cubicBezTo>
                  <a:lnTo>
                    <a:pt x="6788531" y="1174496"/>
                  </a:lnTo>
                  <a:cubicBezTo>
                    <a:pt x="6788531" y="1246505"/>
                    <a:pt x="6730111" y="1305052"/>
                    <a:pt x="6657975" y="1305052"/>
                  </a:cubicBezTo>
                  <a:lnTo>
                    <a:pt x="130556" y="1305052"/>
                  </a:lnTo>
                  <a:cubicBezTo>
                    <a:pt x="58420" y="1304925"/>
                    <a:pt x="0" y="1246505"/>
                    <a:pt x="0" y="117449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538872" y="946566"/>
            <a:ext cx="538286" cy="538286"/>
            <a:chOff x="0" y="0"/>
            <a:chExt cx="717715" cy="7177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7677" cy="717677"/>
            </a:xfrm>
            <a:custGeom>
              <a:avLst/>
              <a:gdLst/>
              <a:ahLst/>
              <a:cxnLst/>
              <a:rect l="l" t="t" r="r" b="b"/>
              <a:pathLst>
                <a:path w="717677" h="717677">
                  <a:moveTo>
                    <a:pt x="0" y="0"/>
                  </a:moveTo>
                  <a:lnTo>
                    <a:pt x="717677" y="0"/>
                  </a:lnTo>
                  <a:lnTo>
                    <a:pt x="717677" y="717677"/>
                  </a:lnTo>
                  <a:lnTo>
                    <a:pt x="0" y="71767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368138" y="721281"/>
            <a:ext cx="3971134" cy="988866"/>
            <a:chOff x="0" y="0"/>
            <a:chExt cx="5294846" cy="13184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94845" cy="1318487"/>
            </a:xfrm>
            <a:custGeom>
              <a:avLst/>
              <a:gdLst/>
              <a:ahLst/>
              <a:cxnLst/>
              <a:rect l="l" t="t" r="r" b="b"/>
              <a:pathLst>
                <a:path w="5294845" h="1318487">
                  <a:moveTo>
                    <a:pt x="0" y="0"/>
                  </a:moveTo>
                  <a:lnTo>
                    <a:pt x="5294845" y="0"/>
                  </a:lnTo>
                  <a:lnTo>
                    <a:pt x="5294845" y="1318487"/>
                  </a:lnTo>
                  <a:lnTo>
                    <a:pt x="0" y="1318487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28248" b="-2824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5294846" cy="132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8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 diseases from leaf images.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242816" y="1949739"/>
            <a:ext cx="5091379" cy="978703"/>
            <a:chOff x="0" y="0"/>
            <a:chExt cx="6788506" cy="13049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88531" cy="1305052"/>
            </a:xfrm>
            <a:custGeom>
              <a:avLst/>
              <a:gdLst/>
              <a:ahLst/>
              <a:cxnLst/>
              <a:rect l="l" t="t" r="r" b="b"/>
              <a:pathLst>
                <a:path w="6788531" h="1305052">
                  <a:moveTo>
                    <a:pt x="0" y="130556"/>
                  </a:moveTo>
                  <a:cubicBezTo>
                    <a:pt x="0" y="58420"/>
                    <a:pt x="58420" y="0"/>
                    <a:pt x="130556" y="0"/>
                  </a:cubicBezTo>
                  <a:lnTo>
                    <a:pt x="6657975" y="0"/>
                  </a:lnTo>
                  <a:cubicBezTo>
                    <a:pt x="6729984" y="0"/>
                    <a:pt x="6788531" y="58420"/>
                    <a:pt x="6788531" y="130556"/>
                  </a:cubicBezTo>
                  <a:lnTo>
                    <a:pt x="6788531" y="1174496"/>
                  </a:lnTo>
                  <a:cubicBezTo>
                    <a:pt x="6788531" y="1246505"/>
                    <a:pt x="6730111" y="1305052"/>
                    <a:pt x="6657975" y="1305052"/>
                  </a:cubicBezTo>
                  <a:lnTo>
                    <a:pt x="130556" y="1305052"/>
                  </a:lnTo>
                  <a:cubicBezTo>
                    <a:pt x="58420" y="1304925"/>
                    <a:pt x="0" y="1246505"/>
                    <a:pt x="0" y="117449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4538872" y="2169947"/>
            <a:ext cx="538286" cy="538286"/>
            <a:chOff x="0" y="0"/>
            <a:chExt cx="717715" cy="7177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7677" cy="717677"/>
            </a:xfrm>
            <a:custGeom>
              <a:avLst/>
              <a:gdLst/>
              <a:ahLst/>
              <a:cxnLst/>
              <a:rect l="l" t="t" r="r" b="b"/>
              <a:pathLst>
                <a:path w="717677" h="717677">
                  <a:moveTo>
                    <a:pt x="0" y="0"/>
                  </a:moveTo>
                  <a:lnTo>
                    <a:pt x="717677" y="0"/>
                  </a:lnTo>
                  <a:lnTo>
                    <a:pt x="717677" y="717677"/>
                  </a:lnTo>
                  <a:lnTo>
                    <a:pt x="0" y="71767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368138" y="1944662"/>
            <a:ext cx="3971134" cy="988866"/>
            <a:chOff x="0" y="0"/>
            <a:chExt cx="5294846" cy="13184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94845" cy="1318487"/>
            </a:xfrm>
            <a:custGeom>
              <a:avLst/>
              <a:gdLst/>
              <a:ahLst/>
              <a:cxnLst/>
              <a:rect l="l" t="t" r="r" b="b"/>
              <a:pathLst>
                <a:path w="5294845" h="1318487">
                  <a:moveTo>
                    <a:pt x="0" y="0"/>
                  </a:moveTo>
                  <a:lnTo>
                    <a:pt x="5294845" y="0"/>
                  </a:lnTo>
                  <a:lnTo>
                    <a:pt x="5294845" y="1318487"/>
                  </a:lnTo>
                  <a:lnTo>
                    <a:pt x="0" y="1318487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28248" b="-2824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5294846" cy="132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8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CNN models for classification.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242816" y="3173120"/>
            <a:ext cx="5091379" cy="978703"/>
            <a:chOff x="0" y="0"/>
            <a:chExt cx="6788506" cy="13049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88531" cy="1305052"/>
            </a:xfrm>
            <a:custGeom>
              <a:avLst/>
              <a:gdLst/>
              <a:ahLst/>
              <a:cxnLst/>
              <a:rect l="l" t="t" r="r" b="b"/>
              <a:pathLst>
                <a:path w="6788531" h="1305052">
                  <a:moveTo>
                    <a:pt x="0" y="130556"/>
                  </a:moveTo>
                  <a:cubicBezTo>
                    <a:pt x="0" y="58420"/>
                    <a:pt x="58420" y="0"/>
                    <a:pt x="130556" y="0"/>
                  </a:cubicBezTo>
                  <a:lnTo>
                    <a:pt x="6657975" y="0"/>
                  </a:lnTo>
                  <a:cubicBezTo>
                    <a:pt x="6729984" y="0"/>
                    <a:pt x="6788531" y="58420"/>
                    <a:pt x="6788531" y="130556"/>
                  </a:cubicBezTo>
                  <a:lnTo>
                    <a:pt x="6788531" y="1174496"/>
                  </a:lnTo>
                  <a:cubicBezTo>
                    <a:pt x="6788531" y="1246505"/>
                    <a:pt x="6730111" y="1305052"/>
                    <a:pt x="6657975" y="1305052"/>
                  </a:cubicBezTo>
                  <a:lnTo>
                    <a:pt x="130556" y="1305052"/>
                  </a:lnTo>
                  <a:cubicBezTo>
                    <a:pt x="58420" y="1304925"/>
                    <a:pt x="0" y="1246505"/>
                    <a:pt x="0" y="117449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4538872" y="3393329"/>
            <a:ext cx="538286" cy="538286"/>
            <a:chOff x="0" y="0"/>
            <a:chExt cx="717715" cy="71771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7677" cy="717677"/>
            </a:xfrm>
            <a:custGeom>
              <a:avLst/>
              <a:gdLst/>
              <a:ahLst/>
              <a:cxnLst/>
              <a:rect l="l" t="t" r="r" b="b"/>
              <a:pathLst>
                <a:path w="717677" h="717677">
                  <a:moveTo>
                    <a:pt x="0" y="0"/>
                  </a:moveTo>
                  <a:lnTo>
                    <a:pt x="717677" y="0"/>
                  </a:lnTo>
                  <a:lnTo>
                    <a:pt x="717677" y="717677"/>
                  </a:lnTo>
                  <a:lnTo>
                    <a:pt x="0" y="71767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5368138" y="3168044"/>
            <a:ext cx="3971134" cy="988866"/>
            <a:chOff x="0" y="0"/>
            <a:chExt cx="5294846" cy="131848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294845" cy="1318487"/>
            </a:xfrm>
            <a:custGeom>
              <a:avLst/>
              <a:gdLst/>
              <a:ahLst/>
              <a:cxnLst/>
              <a:rect l="l" t="t" r="r" b="b"/>
              <a:pathLst>
                <a:path w="5294845" h="1318487">
                  <a:moveTo>
                    <a:pt x="0" y="0"/>
                  </a:moveTo>
                  <a:lnTo>
                    <a:pt x="5294845" y="0"/>
                  </a:lnTo>
                  <a:lnTo>
                    <a:pt x="5294845" y="1318487"/>
                  </a:lnTo>
                  <a:lnTo>
                    <a:pt x="0" y="1318487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28248" b="-2824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5294846" cy="132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8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 prediction accuracy.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242816" y="4396502"/>
            <a:ext cx="5091379" cy="978703"/>
            <a:chOff x="0" y="0"/>
            <a:chExt cx="6788506" cy="13049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788531" cy="1305052"/>
            </a:xfrm>
            <a:custGeom>
              <a:avLst/>
              <a:gdLst/>
              <a:ahLst/>
              <a:cxnLst/>
              <a:rect l="l" t="t" r="r" b="b"/>
              <a:pathLst>
                <a:path w="6788531" h="1305052">
                  <a:moveTo>
                    <a:pt x="0" y="130556"/>
                  </a:moveTo>
                  <a:cubicBezTo>
                    <a:pt x="0" y="58420"/>
                    <a:pt x="58420" y="0"/>
                    <a:pt x="130556" y="0"/>
                  </a:cubicBezTo>
                  <a:lnTo>
                    <a:pt x="6657975" y="0"/>
                  </a:lnTo>
                  <a:cubicBezTo>
                    <a:pt x="6729984" y="0"/>
                    <a:pt x="6788531" y="58420"/>
                    <a:pt x="6788531" y="130556"/>
                  </a:cubicBezTo>
                  <a:lnTo>
                    <a:pt x="6788531" y="1174496"/>
                  </a:lnTo>
                  <a:cubicBezTo>
                    <a:pt x="6788531" y="1246505"/>
                    <a:pt x="6730111" y="1305052"/>
                    <a:pt x="6657975" y="1305052"/>
                  </a:cubicBezTo>
                  <a:lnTo>
                    <a:pt x="130556" y="1305052"/>
                  </a:lnTo>
                  <a:cubicBezTo>
                    <a:pt x="58420" y="1304925"/>
                    <a:pt x="0" y="1246505"/>
                    <a:pt x="0" y="117449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4538872" y="4616710"/>
            <a:ext cx="538286" cy="538286"/>
            <a:chOff x="0" y="0"/>
            <a:chExt cx="717715" cy="71771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7677" cy="717677"/>
            </a:xfrm>
            <a:custGeom>
              <a:avLst/>
              <a:gdLst/>
              <a:ahLst/>
              <a:cxnLst/>
              <a:rect l="l" t="t" r="r" b="b"/>
              <a:pathLst>
                <a:path w="717677" h="717677">
                  <a:moveTo>
                    <a:pt x="0" y="0"/>
                  </a:moveTo>
                  <a:lnTo>
                    <a:pt x="717677" y="0"/>
                  </a:lnTo>
                  <a:lnTo>
                    <a:pt x="717677" y="717677"/>
                  </a:lnTo>
                  <a:lnTo>
                    <a:pt x="0" y="71767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5368138" y="4391425"/>
            <a:ext cx="3971134" cy="988866"/>
            <a:chOff x="0" y="0"/>
            <a:chExt cx="5294846" cy="131848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94845" cy="1318487"/>
            </a:xfrm>
            <a:custGeom>
              <a:avLst/>
              <a:gdLst/>
              <a:ahLst/>
              <a:cxnLst/>
              <a:rect l="l" t="t" r="r" b="b"/>
              <a:pathLst>
                <a:path w="5294845" h="1318487">
                  <a:moveTo>
                    <a:pt x="0" y="0"/>
                  </a:moveTo>
                  <a:lnTo>
                    <a:pt x="5294845" y="0"/>
                  </a:lnTo>
                  <a:lnTo>
                    <a:pt x="5294845" y="1318487"/>
                  </a:lnTo>
                  <a:lnTo>
                    <a:pt x="0" y="1318487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28248" b="-28249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5294846" cy="132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8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 detection time using GPU.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242816" y="5619883"/>
            <a:ext cx="5091379" cy="978703"/>
            <a:chOff x="0" y="0"/>
            <a:chExt cx="6788506" cy="13049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788531" cy="1305052"/>
            </a:xfrm>
            <a:custGeom>
              <a:avLst/>
              <a:gdLst/>
              <a:ahLst/>
              <a:cxnLst/>
              <a:rect l="l" t="t" r="r" b="b"/>
              <a:pathLst>
                <a:path w="6788531" h="1305052">
                  <a:moveTo>
                    <a:pt x="0" y="130556"/>
                  </a:moveTo>
                  <a:cubicBezTo>
                    <a:pt x="0" y="58420"/>
                    <a:pt x="58420" y="0"/>
                    <a:pt x="130556" y="0"/>
                  </a:cubicBezTo>
                  <a:lnTo>
                    <a:pt x="6657975" y="0"/>
                  </a:lnTo>
                  <a:cubicBezTo>
                    <a:pt x="6729984" y="0"/>
                    <a:pt x="6788531" y="58420"/>
                    <a:pt x="6788531" y="130556"/>
                  </a:cubicBezTo>
                  <a:lnTo>
                    <a:pt x="6788531" y="1174496"/>
                  </a:lnTo>
                  <a:cubicBezTo>
                    <a:pt x="6788531" y="1246505"/>
                    <a:pt x="6730111" y="1305052"/>
                    <a:pt x="6657975" y="1305052"/>
                  </a:cubicBezTo>
                  <a:lnTo>
                    <a:pt x="130556" y="1305052"/>
                  </a:lnTo>
                  <a:cubicBezTo>
                    <a:pt x="58420" y="1304925"/>
                    <a:pt x="0" y="1246505"/>
                    <a:pt x="0" y="117449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4538872" y="5840092"/>
            <a:ext cx="538286" cy="538286"/>
            <a:chOff x="0" y="0"/>
            <a:chExt cx="717715" cy="71771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17677" cy="717677"/>
            </a:xfrm>
            <a:custGeom>
              <a:avLst/>
              <a:gdLst/>
              <a:ahLst/>
              <a:cxnLst/>
              <a:rect l="l" t="t" r="r" b="b"/>
              <a:pathLst>
                <a:path w="717677" h="717677">
                  <a:moveTo>
                    <a:pt x="0" y="0"/>
                  </a:moveTo>
                  <a:lnTo>
                    <a:pt x="717677" y="0"/>
                  </a:lnTo>
                  <a:lnTo>
                    <a:pt x="717677" y="717677"/>
                  </a:lnTo>
                  <a:lnTo>
                    <a:pt x="0" y="71767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5368138" y="5614807"/>
            <a:ext cx="3971134" cy="988866"/>
            <a:chOff x="0" y="0"/>
            <a:chExt cx="5294846" cy="131848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294845" cy="1318487"/>
            </a:xfrm>
            <a:custGeom>
              <a:avLst/>
              <a:gdLst/>
              <a:ahLst/>
              <a:cxnLst/>
              <a:rect l="l" t="t" r="r" b="b"/>
              <a:pathLst>
                <a:path w="5294845" h="1318487">
                  <a:moveTo>
                    <a:pt x="0" y="0"/>
                  </a:moveTo>
                  <a:lnTo>
                    <a:pt x="5294845" y="0"/>
                  </a:lnTo>
                  <a:lnTo>
                    <a:pt x="5294845" y="1318487"/>
                  </a:lnTo>
                  <a:lnTo>
                    <a:pt x="0" y="1318487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28248" b="-28249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5294846" cy="1328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8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 precision farming.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-319263" y="0"/>
            <a:ext cx="4562079" cy="7315200"/>
          </a:xfrm>
          <a:custGeom>
            <a:avLst/>
            <a:gdLst/>
            <a:ahLst/>
            <a:cxnLst/>
            <a:rect l="l" t="t" r="r" b="b"/>
            <a:pathLst>
              <a:path w="4562079" h="7315200">
                <a:moveTo>
                  <a:pt x="0" y="0"/>
                </a:moveTo>
                <a:lnTo>
                  <a:pt x="4562079" y="0"/>
                </a:lnTo>
                <a:lnTo>
                  <a:pt x="4562079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171" r="-234700"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5368138" y="-97258"/>
            <a:ext cx="2667934" cy="58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92" b="-902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Stack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2642" y="1737522"/>
            <a:ext cx="1041664" cy="1041664"/>
            <a:chOff x="0" y="0"/>
            <a:chExt cx="1388885" cy="13888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8872" cy="1388872"/>
            </a:xfrm>
            <a:custGeom>
              <a:avLst/>
              <a:gdLst/>
              <a:ahLst/>
              <a:cxnLst/>
              <a:rect l="l" t="t" r="r" b="b"/>
              <a:pathLst>
                <a:path w="1388872" h="1388872">
                  <a:moveTo>
                    <a:pt x="0" y="694436"/>
                  </a:moveTo>
                  <a:cubicBezTo>
                    <a:pt x="0" y="310896"/>
                    <a:pt x="310896" y="0"/>
                    <a:pt x="694436" y="0"/>
                  </a:cubicBezTo>
                  <a:cubicBezTo>
                    <a:pt x="1077976" y="0"/>
                    <a:pt x="1388872" y="310896"/>
                    <a:pt x="1388872" y="694436"/>
                  </a:cubicBezTo>
                  <a:cubicBezTo>
                    <a:pt x="1388872" y="1077976"/>
                    <a:pt x="1077976" y="1388872"/>
                    <a:pt x="694436" y="1388872"/>
                  </a:cubicBezTo>
                  <a:cubicBezTo>
                    <a:pt x="310896" y="1388872"/>
                    <a:pt x="0" y="1077976"/>
                    <a:pt x="0" y="694436"/>
                  </a:cubicBezTo>
                  <a:close/>
                </a:path>
              </a:pathLst>
            </a:custGeom>
            <a:solidFill>
              <a:srgbClr val="D0D8E8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147848" y="1942719"/>
            <a:ext cx="631260" cy="631260"/>
            <a:chOff x="0" y="0"/>
            <a:chExt cx="841680" cy="8416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41629" cy="841629"/>
            </a:xfrm>
            <a:custGeom>
              <a:avLst/>
              <a:gdLst/>
              <a:ahLst/>
              <a:cxnLst/>
              <a:rect l="l" t="t" r="r" b="b"/>
              <a:pathLst>
                <a:path w="841629" h="841629">
                  <a:moveTo>
                    <a:pt x="0" y="0"/>
                  </a:moveTo>
                  <a:lnTo>
                    <a:pt x="841629" y="0"/>
                  </a:lnTo>
                  <a:lnTo>
                    <a:pt x="841629" y="841629"/>
                  </a:lnTo>
                  <a:lnTo>
                    <a:pt x="0" y="841629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202447" y="1732436"/>
            <a:ext cx="2465518" cy="1051827"/>
            <a:chOff x="0" y="0"/>
            <a:chExt cx="3287357" cy="14024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87357" cy="1402436"/>
            </a:xfrm>
            <a:custGeom>
              <a:avLst/>
              <a:gdLst/>
              <a:ahLst/>
              <a:cxnLst/>
              <a:rect l="l" t="t" r="r" b="b"/>
              <a:pathLst>
                <a:path w="3287357" h="1402436">
                  <a:moveTo>
                    <a:pt x="0" y="0"/>
                  </a:moveTo>
                  <a:lnTo>
                    <a:pt x="3287357" y="0"/>
                  </a:lnTo>
                  <a:lnTo>
                    <a:pt x="3287357" y="1402436"/>
                  </a:lnTo>
                  <a:lnTo>
                    <a:pt x="0" y="1402436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4736" r="-473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87357" cy="14500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0"/>
                </a:lnSpc>
              </a:pPr>
              <a:r>
                <a:rPr lang="en-US" sz="21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is used for development.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090712" y="1737522"/>
            <a:ext cx="1041664" cy="1041664"/>
            <a:chOff x="0" y="0"/>
            <a:chExt cx="1388885" cy="13888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88872" cy="1388872"/>
            </a:xfrm>
            <a:custGeom>
              <a:avLst/>
              <a:gdLst/>
              <a:ahLst/>
              <a:cxnLst/>
              <a:rect l="l" t="t" r="r" b="b"/>
              <a:pathLst>
                <a:path w="1388872" h="1388872">
                  <a:moveTo>
                    <a:pt x="0" y="694436"/>
                  </a:moveTo>
                  <a:cubicBezTo>
                    <a:pt x="0" y="310896"/>
                    <a:pt x="310896" y="0"/>
                    <a:pt x="694436" y="0"/>
                  </a:cubicBezTo>
                  <a:cubicBezTo>
                    <a:pt x="1077976" y="0"/>
                    <a:pt x="1388872" y="310896"/>
                    <a:pt x="1388872" y="694436"/>
                  </a:cubicBezTo>
                  <a:cubicBezTo>
                    <a:pt x="1388872" y="1077976"/>
                    <a:pt x="1077976" y="1388872"/>
                    <a:pt x="694436" y="1388872"/>
                  </a:cubicBezTo>
                  <a:cubicBezTo>
                    <a:pt x="310896" y="1388872"/>
                    <a:pt x="0" y="1077976"/>
                    <a:pt x="0" y="694436"/>
                  </a:cubicBezTo>
                  <a:close/>
                </a:path>
              </a:pathLst>
            </a:custGeom>
            <a:solidFill>
              <a:srgbClr val="D0D8E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295919" y="1942719"/>
            <a:ext cx="631260" cy="631260"/>
            <a:chOff x="0" y="0"/>
            <a:chExt cx="841680" cy="841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41629" cy="841629"/>
            </a:xfrm>
            <a:custGeom>
              <a:avLst/>
              <a:gdLst/>
              <a:ahLst/>
              <a:cxnLst/>
              <a:rect l="l" t="t" r="r" b="b"/>
              <a:pathLst>
                <a:path w="841629" h="841629">
                  <a:moveTo>
                    <a:pt x="0" y="0"/>
                  </a:moveTo>
                  <a:lnTo>
                    <a:pt x="841629" y="0"/>
                  </a:lnTo>
                  <a:lnTo>
                    <a:pt x="841629" y="841629"/>
                  </a:lnTo>
                  <a:lnTo>
                    <a:pt x="0" y="841629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350518" y="1732436"/>
            <a:ext cx="2465518" cy="1051827"/>
            <a:chOff x="0" y="0"/>
            <a:chExt cx="3287357" cy="14024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87357" cy="1402436"/>
            </a:xfrm>
            <a:custGeom>
              <a:avLst/>
              <a:gdLst/>
              <a:ahLst/>
              <a:cxnLst/>
              <a:rect l="l" t="t" r="r" b="b"/>
              <a:pathLst>
                <a:path w="3287357" h="1402436">
                  <a:moveTo>
                    <a:pt x="0" y="0"/>
                  </a:moveTo>
                  <a:lnTo>
                    <a:pt x="3287357" y="0"/>
                  </a:lnTo>
                  <a:lnTo>
                    <a:pt x="3287357" y="1402436"/>
                  </a:lnTo>
                  <a:lnTo>
                    <a:pt x="0" y="1402436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4736" r="-4736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287357" cy="14500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0"/>
                </a:lnSpc>
              </a:pPr>
              <a:r>
                <a:rPr lang="en-US" sz="21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TensorFlow and PyTorch build models.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2642" y="3599898"/>
            <a:ext cx="1041664" cy="1041664"/>
            <a:chOff x="0" y="0"/>
            <a:chExt cx="1388885" cy="138888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88872" cy="1388872"/>
            </a:xfrm>
            <a:custGeom>
              <a:avLst/>
              <a:gdLst/>
              <a:ahLst/>
              <a:cxnLst/>
              <a:rect l="l" t="t" r="r" b="b"/>
              <a:pathLst>
                <a:path w="1388872" h="1388872">
                  <a:moveTo>
                    <a:pt x="0" y="694436"/>
                  </a:moveTo>
                  <a:cubicBezTo>
                    <a:pt x="0" y="310896"/>
                    <a:pt x="310896" y="0"/>
                    <a:pt x="694436" y="0"/>
                  </a:cubicBezTo>
                  <a:cubicBezTo>
                    <a:pt x="1077976" y="0"/>
                    <a:pt x="1388872" y="310896"/>
                    <a:pt x="1388872" y="694436"/>
                  </a:cubicBezTo>
                  <a:cubicBezTo>
                    <a:pt x="1388872" y="1077976"/>
                    <a:pt x="1077976" y="1388872"/>
                    <a:pt x="694436" y="1388872"/>
                  </a:cubicBezTo>
                  <a:cubicBezTo>
                    <a:pt x="310896" y="1388872"/>
                    <a:pt x="0" y="1077976"/>
                    <a:pt x="0" y="694436"/>
                  </a:cubicBezTo>
                  <a:close/>
                </a:path>
              </a:pathLst>
            </a:custGeom>
            <a:solidFill>
              <a:srgbClr val="D0D8E8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47848" y="3805095"/>
            <a:ext cx="631260" cy="631260"/>
            <a:chOff x="0" y="0"/>
            <a:chExt cx="841680" cy="8416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1629" cy="841629"/>
            </a:xfrm>
            <a:custGeom>
              <a:avLst/>
              <a:gdLst/>
              <a:ahLst/>
              <a:cxnLst/>
              <a:rect l="l" t="t" r="r" b="b"/>
              <a:pathLst>
                <a:path w="841629" h="841629">
                  <a:moveTo>
                    <a:pt x="0" y="0"/>
                  </a:moveTo>
                  <a:lnTo>
                    <a:pt x="841629" y="0"/>
                  </a:lnTo>
                  <a:lnTo>
                    <a:pt x="841629" y="841629"/>
                  </a:lnTo>
                  <a:lnTo>
                    <a:pt x="0" y="841629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2202447" y="3594811"/>
            <a:ext cx="2465518" cy="1051827"/>
            <a:chOff x="0" y="0"/>
            <a:chExt cx="3287357" cy="140243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287357" cy="1402436"/>
            </a:xfrm>
            <a:custGeom>
              <a:avLst/>
              <a:gdLst/>
              <a:ahLst/>
              <a:cxnLst/>
              <a:rect l="l" t="t" r="r" b="b"/>
              <a:pathLst>
                <a:path w="3287357" h="1402436">
                  <a:moveTo>
                    <a:pt x="0" y="0"/>
                  </a:moveTo>
                  <a:lnTo>
                    <a:pt x="3287357" y="0"/>
                  </a:lnTo>
                  <a:lnTo>
                    <a:pt x="3287357" y="1402436"/>
                  </a:lnTo>
                  <a:lnTo>
                    <a:pt x="0" y="1402436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4736" r="-473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3287357" cy="14500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0"/>
                </a:lnSpc>
              </a:pPr>
              <a:r>
                <a:rPr lang="en-US" sz="21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OpenCV processes images.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090712" y="3599898"/>
            <a:ext cx="1041664" cy="1041664"/>
            <a:chOff x="0" y="0"/>
            <a:chExt cx="1388885" cy="138888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88872" cy="1388872"/>
            </a:xfrm>
            <a:custGeom>
              <a:avLst/>
              <a:gdLst/>
              <a:ahLst/>
              <a:cxnLst/>
              <a:rect l="l" t="t" r="r" b="b"/>
              <a:pathLst>
                <a:path w="1388872" h="1388872">
                  <a:moveTo>
                    <a:pt x="0" y="694436"/>
                  </a:moveTo>
                  <a:cubicBezTo>
                    <a:pt x="0" y="310896"/>
                    <a:pt x="310896" y="0"/>
                    <a:pt x="694436" y="0"/>
                  </a:cubicBezTo>
                  <a:cubicBezTo>
                    <a:pt x="1077976" y="0"/>
                    <a:pt x="1388872" y="310896"/>
                    <a:pt x="1388872" y="694436"/>
                  </a:cubicBezTo>
                  <a:cubicBezTo>
                    <a:pt x="1388872" y="1077976"/>
                    <a:pt x="1077976" y="1388872"/>
                    <a:pt x="694436" y="1388872"/>
                  </a:cubicBezTo>
                  <a:cubicBezTo>
                    <a:pt x="310896" y="1388872"/>
                    <a:pt x="0" y="1077976"/>
                    <a:pt x="0" y="694436"/>
                  </a:cubicBezTo>
                  <a:close/>
                </a:path>
              </a:pathLst>
            </a:custGeom>
            <a:solidFill>
              <a:srgbClr val="D0D8E8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5295919" y="3805095"/>
            <a:ext cx="631260" cy="631260"/>
            <a:chOff x="0" y="0"/>
            <a:chExt cx="841680" cy="8416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41629" cy="841629"/>
            </a:xfrm>
            <a:custGeom>
              <a:avLst/>
              <a:gdLst/>
              <a:ahLst/>
              <a:cxnLst/>
              <a:rect l="l" t="t" r="r" b="b"/>
              <a:pathLst>
                <a:path w="841629" h="841629">
                  <a:moveTo>
                    <a:pt x="0" y="0"/>
                  </a:moveTo>
                  <a:lnTo>
                    <a:pt x="841629" y="0"/>
                  </a:lnTo>
                  <a:lnTo>
                    <a:pt x="841629" y="841629"/>
                  </a:lnTo>
                  <a:lnTo>
                    <a:pt x="0" y="841629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6350518" y="3594811"/>
            <a:ext cx="2465518" cy="1051827"/>
            <a:chOff x="0" y="0"/>
            <a:chExt cx="3287357" cy="140243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287357" cy="1402436"/>
            </a:xfrm>
            <a:custGeom>
              <a:avLst/>
              <a:gdLst/>
              <a:ahLst/>
              <a:cxnLst/>
              <a:rect l="l" t="t" r="r" b="b"/>
              <a:pathLst>
                <a:path w="3287357" h="1402436">
                  <a:moveTo>
                    <a:pt x="0" y="0"/>
                  </a:moveTo>
                  <a:lnTo>
                    <a:pt x="3287357" y="0"/>
                  </a:lnTo>
                  <a:lnTo>
                    <a:pt x="3287357" y="1402436"/>
                  </a:lnTo>
                  <a:lnTo>
                    <a:pt x="0" y="1402436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4736" r="-473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3287357" cy="14500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0"/>
                </a:lnSpc>
              </a:pPr>
              <a:r>
                <a:rPr lang="en-US" sz="21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 performs disease classification.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2642" y="5462264"/>
            <a:ext cx="1041664" cy="1041664"/>
            <a:chOff x="0" y="0"/>
            <a:chExt cx="1388885" cy="138888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88872" cy="1388872"/>
            </a:xfrm>
            <a:custGeom>
              <a:avLst/>
              <a:gdLst/>
              <a:ahLst/>
              <a:cxnLst/>
              <a:rect l="l" t="t" r="r" b="b"/>
              <a:pathLst>
                <a:path w="1388872" h="1388872">
                  <a:moveTo>
                    <a:pt x="0" y="694436"/>
                  </a:moveTo>
                  <a:cubicBezTo>
                    <a:pt x="0" y="310896"/>
                    <a:pt x="310896" y="0"/>
                    <a:pt x="694436" y="0"/>
                  </a:cubicBezTo>
                  <a:cubicBezTo>
                    <a:pt x="1077976" y="0"/>
                    <a:pt x="1388872" y="310896"/>
                    <a:pt x="1388872" y="694436"/>
                  </a:cubicBezTo>
                  <a:cubicBezTo>
                    <a:pt x="1388872" y="1077976"/>
                    <a:pt x="1077976" y="1388872"/>
                    <a:pt x="694436" y="1388872"/>
                  </a:cubicBezTo>
                  <a:cubicBezTo>
                    <a:pt x="310896" y="1388872"/>
                    <a:pt x="0" y="1077976"/>
                    <a:pt x="0" y="694436"/>
                  </a:cubicBezTo>
                  <a:close/>
                </a:path>
              </a:pathLst>
            </a:custGeom>
            <a:solidFill>
              <a:srgbClr val="D0D8E8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147848" y="5667470"/>
            <a:ext cx="631260" cy="631260"/>
            <a:chOff x="0" y="0"/>
            <a:chExt cx="841680" cy="8416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41629" cy="841629"/>
            </a:xfrm>
            <a:custGeom>
              <a:avLst/>
              <a:gdLst/>
              <a:ahLst/>
              <a:cxnLst/>
              <a:rect l="l" t="t" r="r" b="b"/>
              <a:pathLst>
                <a:path w="841629" h="841629">
                  <a:moveTo>
                    <a:pt x="0" y="0"/>
                  </a:moveTo>
                  <a:lnTo>
                    <a:pt x="841629" y="0"/>
                  </a:lnTo>
                  <a:lnTo>
                    <a:pt x="841629" y="841629"/>
                  </a:lnTo>
                  <a:lnTo>
                    <a:pt x="0" y="841629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2202447" y="5457187"/>
            <a:ext cx="2465518" cy="1051827"/>
            <a:chOff x="0" y="0"/>
            <a:chExt cx="3287357" cy="140243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287357" cy="1402436"/>
            </a:xfrm>
            <a:custGeom>
              <a:avLst/>
              <a:gdLst/>
              <a:ahLst/>
              <a:cxnLst/>
              <a:rect l="l" t="t" r="r" b="b"/>
              <a:pathLst>
                <a:path w="3287357" h="1402436">
                  <a:moveTo>
                    <a:pt x="0" y="0"/>
                  </a:moveTo>
                  <a:lnTo>
                    <a:pt x="3287357" y="0"/>
                  </a:lnTo>
                  <a:lnTo>
                    <a:pt x="3287357" y="1402436"/>
                  </a:lnTo>
                  <a:lnTo>
                    <a:pt x="0" y="1402436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4736" r="-473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3287357" cy="14500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60"/>
                </a:lnSpc>
              </a:pPr>
              <a:r>
                <a:rPr lang="en-US" sz="21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NVIDIA GPU accelerates training.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1892" y="291189"/>
            <a:ext cx="7302008" cy="135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74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Why NVIDIA GPU?</a:t>
            </a:r>
          </a:p>
        </p:txBody>
      </p:sp>
      <p:sp>
        <p:nvSpPr>
          <p:cNvPr id="3" name="Freeform 3"/>
          <p:cNvSpPr/>
          <p:nvPr/>
        </p:nvSpPr>
        <p:spPr>
          <a:xfrm>
            <a:off x="8795356" y="591093"/>
            <a:ext cx="459343" cy="1147591"/>
          </a:xfrm>
          <a:custGeom>
            <a:avLst/>
            <a:gdLst/>
            <a:ahLst/>
            <a:cxnLst/>
            <a:rect l="l" t="t" r="r" b="b"/>
            <a:pathLst>
              <a:path w="459343" h="1147591">
                <a:moveTo>
                  <a:pt x="0" y="0"/>
                </a:moveTo>
                <a:lnTo>
                  <a:pt x="459344" y="0"/>
                </a:lnTo>
                <a:lnTo>
                  <a:pt x="459344" y="1147591"/>
                </a:lnTo>
                <a:lnTo>
                  <a:pt x="0" y="1147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73240">
            <a:off x="-1242022" y="5568886"/>
            <a:ext cx="3481845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5242970" y="1977142"/>
            <a:ext cx="1168708" cy="1168708"/>
            <a:chOff x="0" y="0"/>
            <a:chExt cx="1558277" cy="15582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58278" cy="1558278"/>
            </a:xfrm>
            <a:custGeom>
              <a:avLst/>
              <a:gdLst/>
              <a:ahLst/>
              <a:cxnLst/>
              <a:rect l="l" t="t" r="r" b="b"/>
              <a:pathLst>
                <a:path w="1558278" h="1558278">
                  <a:moveTo>
                    <a:pt x="0" y="0"/>
                  </a:moveTo>
                  <a:lnTo>
                    <a:pt x="1558278" y="0"/>
                  </a:lnTo>
                  <a:lnTo>
                    <a:pt x="1558278" y="1558278"/>
                  </a:lnTo>
                  <a:lnTo>
                    <a:pt x="0" y="1558278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558277" cy="1577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8"/>
                </a:lnSpc>
              </a:pPr>
              <a:r>
                <a:rPr lang="en-US" sz="181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GPU supports parallel processing.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04580" y="1934604"/>
            <a:ext cx="4376614" cy="4376614"/>
            <a:chOff x="0" y="0"/>
            <a:chExt cx="5835485" cy="5835485"/>
          </a:xfrm>
        </p:grpSpPr>
        <p:sp>
          <p:nvSpPr>
            <p:cNvPr id="9" name="Freeform 9"/>
            <p:cNvSpPr/>
            <p:nvPr/>
          </p:nvSpPr>
          <p:spPr>
            <a:xfrm>
              <a:off x="4994529" y="1535811"/>
              <a:ext cx="830961" cy="1404620"/>
            </a:xfrm>
            <a:custGeom>
              <a:avLst/>
              <a:gdLst/>
              <a:ahLst/>
              <a:cxnLst/>
              <a:rect l="l" t="t" r="r" b="b"/>
              <a:pathLst>
                <a:path w="830961" h="1404620">
                  <a:moveTo>
                    <a:pt x="260985" y="0"/>
                  </a:moveTo>
                  <a:cubicBezTo>
                    <a:pt x="469392" y="352679"/>
                    <a:pt x="595376" y="747903"/>
                    <a:pt x="629539" y="1156081"/>
                  </a:cubicBezTo>
                  <a:lnTo>
                    <a:pt x="830961" y="1157859"/>
                  </a:lnTo>
                  <a:lnTo>
                    <a:pt x="487299" y="1404620"/>
                  </a:lnTo>
                  <a:lnTo>
                    <a:pt x="123571" y="1151636"/>
                  </a:lnTo>
                  <a:lnTo>
                    <a:pt x="324866" y="1153414"/>
                  </a:lnTo>
                  <a:cubicBezTo>
                    <a:pt x="291338" y="800481"/>
                    <a:pt x="180340" y="459359"/>
                    <a:pt x="0" y="154178"/>
                  </a:cubicBezTo>
                  <a:close/>
                </a:path>
              </a:pathLst>
            </a:custGeom>
            <a:solidFill>
              <a:srgbClr val="8064A2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944095" y="4134974"/>
            <a:ext cx="1168708" cy="1168708"/>
            <a:chOff x="0" y="0"/>
            <a:chExt cx="1558277" cy="1558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58278" cy="1558278"/>
            </a:xfrm>
            <a:custGeom>
              <a:avLst/>
              <a:gdLst/>
              <a:ahLst/>
              <a:cxnLst/>
              <a:rect l="l" t="t" r="r" b="b"/>
              <a:pathLst>
                <a:path w="1558278" h="1558278">
                  <a:moveTo>
                    <a:pt x="0" y="0"/>
                  </a:moveTo>
                  <a:lnTo>
                    <a:pt x="1558278" y="0"/>
                  </a:lnTo>
                  <a:lnTo>
                    <a:pt x="1558278" y="1558278"/>
                  </a:lnTo>
                  <a:lnTo>
                    <a:pt x="0" y="1558278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558277" cy="1577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8"/>
                </a:lnSpc>
              </a:pPr>
              <a:r>
                <a:rPr lang="en-US" sz="181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Faster than CPU training.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04580" y="1934604"/>
            <a:ext cx="4376614" cy="4376614"/>
            <a:chOff x="0" y="0"/>
            <a:chExt cx="5835485" cy="5835485"/>
          </a:xfrm>
        </p:grpSpPr>
        <p:sp>
          <p:nvSpPr>
            <p:cNvPr id="14" name="Freeform 14"/>
            <p:cNvSpPr/>
            <p:nvPr/>
          </p:nvSpPr>
          <p:spPr>
            <a:xfrm>
              <a:off x="3687318" y="4387469"/>
              <a:ext cx="1384046" cy="1226947"/>
            </a:xfrm>
            <a:custGeom>
              <a:avLst/>
              <a:gdLst/>
              <a:ahLst/>
              <a:cxnLst/>
              <a:rect l="l" t="t" r="r" b="b"/>
              <a:pathLst>
                <a:path w="1384046" h="1226947">
                  <a:moveTo>
                    <a:pt x="1384046" y="184531"/>
                  </a:moveTo>
                  <a:cubicBezTo>
                    <a:pt x="1096391" y="559054"/>
                    <a:pt x="715899" y="852170"/>
                    <a:pt x="280289" y="1034796"/>
                  </a:cubicBezTo>
                  <a:lnTo>
                    <a:pt x="340741" y="1226947"/>
                  </a:lnTo>
                  <a:lnTo>
                    <a:pt x="0" y="976249"/>
                  </a:lnTo>
                  <a:lnTo>
                    <a:pt x="128524" y="552323"/>
                  </a:lnTo>
                  <a:lnTo>
                    <a:pt x="188976" y="744347"/>
                  </a:lnTo>
                  <a:cubicBezTo>
                    <a:pt x="565277" y="581406"/>
                    <a:pt x="893953" y="325247"/>
                    <a:pt x="1143762" y="0"/>
                  </a:cubicBezTo>
                  <a:close/>
                </a:path>
              </a:pathLst>
            </a:custGeom>
            <a:solidFill>
              <a:srgbClr val="8064A2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108533" y="5468579"/>
            <a:ext cx="1168708" cy="1168708"/>
            <a:chOff x="0" y="0"/>
            <a:chExt cx="1558277" cy="15582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8278" cy="1558278"/>
            </a:xfrm>
            <a:custGeom>
              <a:avLst/>
              <a:gdLst/>
              <a:ahLst/>
              <a:cxnLst/>
              <a:rect l="l" t="t" r="r" b="b"/>
              <a:pathLst>
                <a:path w="1558278" h="1558278">
                  <a:moveTo>
                    <a:pt x="0" y="0"/>
                  </a:moveTo>
                  <a:lnTo>
                    <a:pt x="1558278" y="0"/>
                  </a:lnTo>
                  <a:lnTo>
                    <a:pt x="1558278" y="1558278"/>
                  </a:lnTo>
                  <a:lnTo>
                    <a:pt x="0" y="1558278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558277" cy="1577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8"/>
                </a:lnSpc>
              </a:pPr>
              <a:r>
                <a:rPr lang="en-US" sz="181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Reduces execution time.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504580" y="1934604"/>
            <a:ext cx="4376614" cy="4376614"/>
            <a:chOff x="0" y="0"/>
            <a:chExt cx="5835485" cy="5835485"/>
          </a:xfrm>
        </p:grpSpPr>
        <p:sp>
          <p:nvSpPr>
            <p:cNvPr id="19" name="Freeform 19"/>
            <p:cNvSpPr/>
            <p:nvPr/>
          </p:nvSpPr>
          <p:spPr>
            <a:xfrm>
              <a:off x="765556" y="4454906"/>
              <a:ext cx="1427988" cy="1053338"/>
            </a:xfrm>
            <a:custGeom>
              <a:avLst/>
              <a:gdLst/>
              <a:ahLst/>
              <a:cxnLst/>
              <a:rect l="l" t="t" r="r" b="b"/>
              <a:pathLst>
                <a:path w="1427988" h="1053338">
                  <a:moveTo>
                    <a:pt x="1337056" y="1053338"/>
                  </a:moveTo>
                  <a:cubicBezTo>
                    <a:pt x="886460" y="911606"/>
                    <a:pt x="480695" y="654812"/>
                    <a:pt x="159766" y="308229"/>
                  </a:cubicBezTo>
                  <a:lnTo>
                    <a:pt x="0" y="430911"/>
                  </a:lnTo>
                  <a:lnTo>
                    <a:pt x="118618" y="24765"/>
                  </a:lnTo>
                  <a:lnTo>
                    <a:pt x="560959" y="0"/>
                  </a:lnTo>
                  <a:lnTo>
                    <a:pt x="401320" y="122682"/>
                  </a:lnTo>
                  <a:cubicBezTo>
                    <a:pt x="683514" y="420243"/>
                    <a:pt x="1036828" y="641096"/>
                    <a:pt x="1427988" y="764159"/>
                  </a:cubicBezTo>
                  <a:close/>
                </a:path>
              </a:pathLst>
            </a:custGeom>
            <a:solidFill>
              <a:srgbClr val="8064A2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2272979" y="4134974"/>
            <a:ext cx="1168708" cy="1168708"/>
            <a:chOff x="0" y="0"/>
            <a:chExt cx="1558277" cy="15582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58278" cy="1558278"/>
            </a:xfrm>
            <a:custGeom>
              <a:avLst/>
              <a:gdLst/>
              <a:ahLst/>
              <a:cxnLst/>
              <a:rect l="l" t="t" r="r" b="b"/>
              <a:pathLst>
                <a:path w="1558278" h="1558278">
                  <a:moveTo>
                    <a:pt x="0" y="0"/>
                  </a:moveTo>
                  <a:lnTo>
                    <a:pt x="1558278" y="0"/>
                  </a:lnTo>
                  <a:lnTo>
                    <a:pt x="1558278" y="1558278"/>
                  </a:lnTo>
                  <a:lnTo>
                    <a:pt x="0" y="1558278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558277" cy="1577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8"/>
                </a:lnSpc>
              </a:pPr>
              <a:r>
                <a:rPr lang="en-US" sz="181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Supports deep learning models.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504580" y="1934604"/>
            <a:ext cx="4376614" cy="4376614"/>
            <a:chOff x="0" y="0"/>
            <a:chExt cx="5835485" cy="5835485"/>
          </a:xfrm>
        </p:grpSpPr>
        <p:sp>
          <p:nvSpPr>
            <p:cNvPr id="24" name="Freeform 24"/>
            <p:cNvSpPr/>
            <p:nvPr/>
          </p:nvSpPr>
          <p:spPr>
            <a:xfrm>
              <a:off x="202074" y="1612900"/>
              <a:ext cx="696197" cy="1328928"/>
            </a:xfrm>
            <a:custGeom>
              <a:avLst/>
              <a:gdLst/>
              <a:ahLst/>
              <a:cxnLst/>
              <a:rect l="l" t="t" r="r" b="b"/>
              <a:pathLst>
                <a:path w="696197" h="1328928">
                  <a:moveTo>
                    <a:pt x="110" y="1328928"/>
                  </a:moveTo>
                  <a:cubicBezTo>
                    <a:pt x="-3573" y="919226"/>
                    <a:pt x="85581" y="514096"/>
                    <a:pt x="260714" y="143764"/>
                  </a:cubicBezTo>
                  <a:lnTo>
                    <a:pt x="87359" y="41275"/>
                  </a:lnTo>
                  <a:lnTo>
                    <a:pt x="508364" y="0"/>
                  </a:lnTo>
                  <a:lnTo>
                    <a:pt x="696197" y="401193"/>
                  </a:lnTo>
                  <a:lnTo>
                    <a:pt x="522842" y="298704"/>
                  </a:lnTo>
                  <a:cubicBezTo>
                    <a:pt x="375014" y="620903"/>
                    <a:pt x="299957" y="971677"/>
                    <a:pt x="303132" y="1326134"/>
                  </a:cubicBezTo>
                  <a:close/>
                </a:path>
              </a:pathLst>
            </a:custGeom>
            <a:solidFill>
              <a:srgbClr val="8064A2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2974105" y="1977142"/>
            <a:ext cx="1168708" cy="1168708"/>
            <a:chOff x="0" y="0"/>
            <a:chExt cx="1558277" cy="155827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58278" cy="1558278"/>
            </a:xfrm>
            <a:custGeom>
              <a:avLst/>
              <a:gdLst/>
              <a:ahLst/>
              <a:cxnLst/>
              <a:rect l="l" t="t" r="r" b="b"/>
              <a:pathLst>
                <a:path w="1558278" h="1558278">
                  <a:moveTo>
                    <a:pt x="0" y="0"/>
                  </a:moveTo>
                  <a:lnTo>
                    <a:pt x="1558278" y="0"/>
                  </a:lnTo>
                  <a:lnTo>
                    <a:pt x="1558278" y="1558278"/>
                  </a:lnTo>
                  <a:lnTo>
                    <a:pt x="0" y="1558278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558277" cy="1577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8"/>
                </a:lnSpc>
              </a:pPr>
              <a:r>
                <a:rPr lang="en-US" sz="181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Efficient for large datasets.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504580" y="1934604"/>
            <a:ext cx="4376614" cy="4376614"/>
            <a:chOff x="0" y="0"/>
            <a:chExt cx="5835485" cy="5835485"/>
          </a:xfrm>
        </p:grpSpPr>
        <p:sp>
          <p:nvSpPr>
            <p:cNvPr id="29" name="Freeform 29"/>
            <p:cNvSpPr/>
            <p:nvPr/>
          </p:nvSpPr>
          <p:spPr>
            <a:xfrm>
              <a:off x="2136648" y="63119"/>
              <a:ext cx="1518793" cy="677418"/>
            </a:xfrm>
            <a:custGeom>
              <a:avLst/>
              <a:gdLst/>
              <a:ahLst/>
              <a:cxnLst/>
              <a:rect l="l" t="t" r="r" b="b"/>
              <a:pathLst>
                <a:path w="1518793" h="677418">
                  <a:moveTo>
                    <a:pt x="0" y="253746"/>
                  </a:moveTo>
                  <a:cubicBezTo>
                    <a:pt x="428244" y="125095"/>
                    <a:pt x="881507" y="104267"/>
                    <a:pt x="1319784" y="192913"/>
                  </a:cubicBezTo>
                  <a:lnTo>
                    <a:pt x="1377696" y="0"/>
                  </a:lnTo>
                  <a:lnTo>
                    <a:pt x="1518793" y="398907"/>
                  </a:lnTo>
                  <a:lnTo>
                    <a:pt x="1174242" y="677418"/>
                  </a:lnTo>
                  <a:lnTo>
                    <a:pt x="1232154" y="484632"/>
                  </a:lnTo>
                  <a:cubicBezTo>
                    <a:pt x="851281" y="412115"/>
                    <a:pt x="458597" y="432562"/>
                    <a:pt x="87249" y="544068"/>
                  </a:cubicBezTo>
                  <a:close/>
                </a:path>
              </a:pathLst>
            </a:custGeom>
            <a:solidFill>
              <a:srgbClr val="8064A2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92" b="-902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Used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7680" y="1710652"/>
            <a:ext cx="8778240" cy="803358"/>
            <a:chOff x="0" y="0"/>
            <a:chExt cx="11704320" cy="10711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04320" cy="1071118"/>
            </a:xfrm>
            <a:custGeom>
              <a:avLst/>
              <a:gdLst/>
              <a:ahLst/>
              <a:cxnLst/>
              <a:rect l="l" t="t" r="r" b="b"/>
              <a:pathLst>
                <a:path w="11704320" h="1071118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11597259" y="0"/>
                  </a:lnTo>
                  <a:cubicBezTo>
                    <a:pt x="11656440" y="0"/>
                    <a:pt x="11704320" y="48006"/>
                    <a:pt x="11704320" y="107061"/>
                  </a:cubicBezTo>
                  <a:lnTo>
                    <a:pt x="11704320" y="964057"/>
                  </a:lnTo>
                  <a:cubicBezTo>
                    <a:pt x="11704320" y="1023239"/>
                    <a:pt x="11656314" y="1071118"/>
                    <a:pt x="11597259" y="1071118"/>
                  </a:cubicBezTo>
                  <a:lnTo>
                    <a:pt x="107061" y="1071118"/>
                  </a:lnTo>
                  <a:cubicBezTo>
                    <a:pt x="48006" y="1071118"/>
                    <a:pt x="0" y="1023239"/>
                    <a:pt x="0" y="964057"/>
                  </a:cubicBezTo>
                  <a:close/>
                </a:path>
              </a:pathLst>
            </a:custGeom>
            <a:solidFill>
              <a:srgbClr val="D0D8E8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17147" y="1877863"/>
            <a:ext cx="468944" cy="468944"/>
            <a:chOff x="0" y="0"/>
            <a:chExt cx="625259" cy="6252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5221" cy="625221"/>
            </a:xfrm>
            <a:custGeom>
              <a:avLst/>
              <a:gdLst/>
              <a:ahLst/>
              <a:cxnLst/>
              <a:rect l="l" t="t" r="r" b="b"/>
              <a:pathLst>
                <a:path w="625221" h="625221">
                  <a:moveTo>
                    <a:pt x="0" y="0"/>
                  </a:moveTo>
                  <a:lnTo>
                    <a:pt x="625221" y="0"/>
                  </a:lnTo>
                  <a:lnTo>
                    <a:pt x="625221" y="625221"/>
                  </a:lnTo>
                  <a:lnTo>
                    <a:pt x="0" y="625221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410481" y="1705575"/>
            <a:ext cx="7860516" cy="813521"/>
            <a:chOff x="0" y="0"/>
            <a:chExt cx="10480688" cy="10846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80694" cy="1084690"/>
            </a:xfrm>
            <a:custGeom>
              <a:avLst/>
              <a:gdLst/>
              <a:ahLst/>
              <a:cxnLst/>
              <a:rect l="l" t="t" r="r" b="b"/>
              <a:pathLst>
                <a:path w="10480694" h="1084690">
                  <a:moveTo>
                    <a:pt x="0" y="0"/>
                  </a:moveTo>
                  <a:lnTo>
                    <a:pt x="10480694" y="0"/>
                  </a:lnTo>
                  <a:lnTo>
                    <a:pt x="10480694" y="1084690"/>
                  </a:lnTo>
                  <a:lnTo>
                    <a:pt x="0" y="1084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271" b="-13827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480688" cy="1122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PlantVillage dataset is used.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7680" y="2714854"/>
            <a:ext cx="8778240" cy="803358"/>
            <a:chOff x="0" y="0"/>
            <a:chExt cx="11704320" cy="10711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04320" cy="1071118"/>
            </a:xfrm>
            <a:custGeom>
              <a:avLst/>
              <a:gdLst/>
              <a:ahLst/>
              <a:cxnLst/>
              <a:rect l="l" t="t" r="r" b="b"/>
              <a:pathLst>
                <a:path w="11704320" h="1071118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11597259" y="0"/>
                  </a:lnTo>
                  <a:cubicBezTo>
                    <a:pt x="11656440" y="0"/>
                    <a:pt x="11704320" y="48006"/>
                    <a:pt x="11704320" y="107061"/>
                  </a:cubicBezTo>
                  <a:lnTo>
                    <a:pt x="11704320" y="964057"/>
                  </a:lnTo>
                  <a:cubicBezTo>
                    <a:pt x="11704320" y="1023239"/>
                    <a:pt x="11656314" y="1071118"/>
                    <a:pt x="11597259" y="1071118"/>
                  </a:cubicBezTo>
                  <a:lnTo>
                    <a:pt x="107061" y="1071118"/>
                  </a:lnTo>
                  <a:cubicBezTo>
                    <a:pt x="48006" y="1071118"/>
                    <a:pt x="0" y="1023239"/>
                    <a:pt x="0" y="964057"/>
                  </a:cubicBezTo>
                  <a:close/>
                </a:path>
              </a:pathLst>
            </a:custGeom>
            <a:solidFill>
              <a:srgbClr val="D0D8E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17147" y="2882055"/>
            <a:ext cx="468944" cy="468944"/>
            <a:chOff x="0" y="0"/>
            <a:chExt cx="625259" cy="6252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5221" cy="625221"/>
            </a:xfrm>
            <a:custGeom>
              <a:avLst/>
              <a:gdLst/>
              <a:ahLst/>
              <a:cxnLst/>
              <a:rect l="l" t="t" r="r" b="b"/>
              <a:pathLst>
                <a:path w="625221" h="625221">
                  <a:moveTo>
                    <a:pt x="0" y="0"/>
                  </a:moveTo>
                  <a:lnTo>
                    <a:pt x="625221" y="0"/>
                  </a:lnTo>
                  <a:lnTo>
                    <a:pt x="625221" y="625221"/>
                  </a:lnTo>
                  <a:lnTo>
                    <a:pt x="0" y="625221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410481" y="2709767"/>
            <a:ext cx="7860516" cy="813521"/>
            <a:chOff x="0" y="0"/>
            <a:chExt cx="10480688" cy="10846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80694" cy="1084690"/>
            </a:xfrm>
            <a:custGeom>
              <a:avLst/>
              <a:gdLst/>
              <a:ahLst/>
              <a:cxnLst/>
              <a:rect l="l" t="t" r="r" b="b"/>
              <a:pathLst>
                <a:path w="10480694" h="1084690">
                  <a:moveTo>
                    <a:pt x="0" y="0"/>
                  </a:moveTo>
                  <a:lnTo>
                    <a:pt x="10480694" y="0"/>
                  </a:lnTo>
                  <a:lnTo>
                    <a:pt x="10480694" y="1084690"/>
                  </a:lnTo>
                  <a:lnTo>
                    <a:pt x="0" y="1084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271" b="-13827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480688" cy="1122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Contains healthy and diseased leaves.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87680" y="3719046"/>
            <a:ext cx="8778240" cy="803358"/>
            <a:chOff x="0" y="0"/>
            <a:chExt cx="11704320" cy="107114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704320" cy="1071118"/>
            </a:xfrm>
            <a:custGeom>
              <a:avLst/>
              <a:gdLst/>
              <a:ahLst/>
              <a:cxnLst/>
              <a:rect l="l" t="t" r="r" b="b"/>
              <a:pathLst>
                <a:path w="11704320" h="1071118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11597259" y="0"/>
                  </a:lnTo>
                  <a:cubicBezTo>
                    <a:pt x="11656440" y="0"/>
                    <a:pt x="11704320" y="48006"/>
                    <a:pt x="11704320" y="107061"/>
                  </a:cubicBezTo>
                  <a:lnTo>
                    <a:pt x="11704320" y="964057"/>
                  </a:lnTo>
                  <a:cubicBezTo>
                    <a:pt x="11704320" y="1023239"/>
                    <a:pt x="11656314" y="1071118"/>
                    <a:pt x="11597259" y="1071118"/>
                  </a:cubicBezTo>
                  <a:lnTo>
                    <a:pt x="107061" y="1071118"/>
                  </a:lnTo>
                  <a:cubicBezTo>
                    <a:pt x="48006" y="1071118"/>
                    <a:pt x="0" y="1023239"/>
                    <a:pt x="0" y="964057"/>
                  </a:cubicBezTo>
                  <a:close/>
                </a:path>
              </a:pathLst>
            </a:custGeom>
            <a:solidFill>
              <a:srgbClr val="D0D8E8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717147" y="3886257"/>
            <a:ext cx="468944" cy="468944"/>
            <a:chOff x="0" y="0"/>
            <a:chExt cx="625259" cy="6252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25221" cy="625221"/>
            </a:xfrm>
            <a:custGeom>
              <a:avLst/>
              <a:gdLst/>
              <a:ahLst/>
              <a:cxnLst/>
              <a:rect l="l" t="t" r="r" b="b"/>
              <a:pathLst>
                <a:path w="625221" h="625221">
                  <a:moveTo>
                    <a:pt x="0" y="0"/>
                  </a:moveTo>
                  <a:lnTo>
                    <a:pt x="625221" y="0"/>
                  </a:lnTo>
                  <a:lnTo>
                    <a:pt x="625221" y="625221"/>
                  </a:lnTo>
                  <a:lnTo>
                    <a:pt x="0" y="625221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410481" y="3713969"/>
            <a:ext cx="7860516" cy="813521"/>
            <a:chOff x="0" y="0"/>
            <a:chExt cx="10480688" cy="10846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80694" cy="1084690"/>
            </a:xfrm>
            <a:custGeom>
              <a:avLst/>
              <a:gdLst/>
              <a:ahLst/>
              <a:cxnLst/>
              <a:rect l="l" t="t" r="r" b="b"/>
              <a:pathLst>
                <a:path w="10480694" h="1084690">
                  <a:moveTo>
                    <a:pt x="0" y="0"/>
                  </a:moveTo>
                  <a:lnTo>
                    <a:pt x="10480694" y="0"/>
                  </a:lnTo>
                  <a:lnTo>
                    <a:pt x="10480694" y="1084690"/>
                  </a:lnTo>
                  <a:lnTo>
                    <a:pt x="0" y="1084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271" b="-13827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480688" cy="1122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Includes different crop categories.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7680" y="4723247"/>
            <a:ext cx="8778240" cy="803358"/>
            <a:chOff x="0" y="0"/>
            <a:chExt cx="11704320" cy="107114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704320" cy="1071118"/>
            </a:xfrm>
            <a:custGeom>
              <a:avLst/>
              <a:gdLst/>
              <a:ahLst/>
              <a:cxnLst/>
              <a:rect l="l" t="t" r="r" b="b"/>
              <a:pathLst>
                <a:path w="11704320" h="1071118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11597259" y="0"/>
                  </a:lnTo>
                  <a:cubicBezTo>
                    <a:pt x="11656440" y="0"/>
                    <a:pt x="11704320" y="48006"/>
                    <a:pt x="11704320" y="107061"/>
                  </a:cubicBezTo>
                  <a:lnTo>
                    <a:pt x="11704320" y="964057"/>
                  </a:lnTo>
                  <a:cubicBezTo>
                    <a:pt x="11704320" y="1023239"/>
                    <a:pt x="11656314" y="1071118"/>
                    <a:pt x="11597259" y="1071118"/>
                  </a:cubicBezTo>
                  <a:lnTo>
                    <a:pt x="107061" y="1071118"/>
                  </a:lnTo>
                  <a:cubicBezTo>
                    <a:pt x="48006" y="1071118"/>
                    <a:pt x="0" y="1023239"/>
                    <a:pt x="0" y="964057"/>
                  </a:cubicBezTo>
                  <a:close/>
                </a:path>
              </a:pathLst>
            </a:custGeom>
            <a:solidFill>
              <a:srgbClr val="D0D8E8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17147" y="4890459"/>
            <a:ext cx="468944" cy="468944"/>
            <a:chOff x="0" y="0"/>
            <a:chExt cx="625259" cy="6252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5221" cy="625221"/>
            </a:xfrm>
            <a:custGeom>
              <a:avLst/>
              <a:gdLst/>
              <a:ahLst/>
              <a:cxnLst/>
              <a:rect l="l" t="t" r="r" b="b"/>
              <a:pathLst>
                <a:path w="625221" h="625221">
                  <a:moveTo>
                    <a:pt x="0" y="0"/>
                  </a:moveTo>
                  <a:lnTo>
                    <a:pt x="625221" y="0"/>
                  </a:lnTo>
                  <a:lnTo>
                    <a:pt x="625221" y="625221"/>
                  </a:lnTo>
                  <a:lnTo>
                    <a:pt x="0" y="625221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410481" y="4718161"/>
            <a:ext cx="7860516" cy="813521"/>
            <a:chOff x="0" y="0"/>
            <a:chExt cx="10480688" cy="108469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480694" cy="1084690"/>
            </a:xfrm>
            <a:custGeom>
              <a:avLst/>
              <a:gdLst/>
              <a:ahLst/>
              <a:cxnLst/>
              <a:rect l="l" t="t" r="r" b="b"/>
              <a:pathLst>
                <a:path w="10480694" h="1084690">
                  <a:moveTo>
                    <a:pt x="0" y="0"/>
                  </a:moveTo>
                  <a:lnTo>
                    <a:pt x="10480694" y="0"/>
                  </a:lnTo>
                  <a:lnTo>
                    <a:pt x="10480694" y="1084690"/>
                  </a:lnTo>
                  <a:lnTo>
                    <a:pt x="0" y="1084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271" b="-138271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0480688" cy="1122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Images are labeled for training.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87680" y="5727440"/>
            <a:ext cx="8778240" cy="803358"/>
            <a:chOff x="0" y="0"/>
            <a:chExt cx="11704320" cy="10711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704320" cy="1071118"/>
            </a:xfrm>
            <a:custGeom>
              <a:avLst/>
              <a:gdLst/>
              <a:ahLst/>
              <a:cxnLst/>
              <a:rect l="l" t="t" r="r" b="b"/>
              <a:pathLst>
                <a:path w="11704320" h="1071118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11597259" y="0"/>
                  </a:lnTo>
                  <a:cubicBezTo>
                    <a:pt x="11656440" y="0"/>
                    <a:pt x="11704320" y="48006"/>
                    <a:pt x="11704320" y="107061"/>
                  </a:cubicBezTo>
                  <a:lnTo>
                    <a:pt x="11704320" y="964057"/>
                  </a:lnTo>
                  <a:cubicBezTo>
                    <a:pt x="11704320" y="1023239"/>
                    <a:pt x="11656314" y="1071118"/>
                    <a:pt x="11597259" y="1071118"/>
                  </a:cubicBezTo>
                  <a:lnTo>
                    <a:pt x="107061" y="1071118"/>
                  </a:lnTo>
                  <a:cubicBezTo>
                    <a:pt x="48006" y="1071118"/>
                    <a:pt x="0" y="1023239"/>
                    <a:pt x="0" y="964057"/>
                  </a:cubicBezTo>
                  <a:close/>
                </a:path>
              </a:pathLst>
            </a:custGeom>
            <a:solidFill>
              <a:srgbClr val="D0D8E8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717147" y="5894651"/>
            <a:ext cx="468944" cy="468944"/>
            <a:chOff x="0" y="0"/>
            <a:chExt cx="625259" cy="62525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25221" cy="625221"/>
            </a:xfrm>
            <a:custGeom>
              <a:avLst/>
              <a:gdLst/>
              <a:ahLst/>
              <a:cxnLst/>
              <a:rect l="l" t="t" r="r" b="b"/>
              <a:pathLst>
                <a:path w="625221" h="625221">
                  <a:moveTo>
                    <a:pt x="0" y="0"/>
                  </a:moveTo>
                  <a:lnTo>
                    <a:pt x="625221" y="0"/>
                  </a:lnTo>
                  <a:lnTo>
                    <a:pt x="625221" y="625221"/>
                  </a:lnTo>
                  <a:lnTo>
                    <a:pt x="0" y="625221"/>
                  </a:lnTo>
                  <a:close/>
                </a:path>
              </a:pathLst>
            </a:custGeom>
            <a:solidFill>
              <a:srgbClr val="00C4CC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410481" y="5722363"/>
            <a:ext cx="7860516" cy="813521"/>
            <a:chOff x="0" y="0"/>
            <a:chExt cx="10480688" cy="108469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480694" cy="1084690"/>
            </a:xfrm>
            <a:custGeom>
              <a:avLst/>
              <a:gdLst/>
              <a:ahLst/>
              <a:cxnLst/>
              <a:rect l="l" t="t" r="r" b="b"/>
              <a:pathLst>
                <a:path w="10480694" h="1084690">
                  <a:moveTo>
                    <a:pt x="0" y="0"/>
                  </a:moveTo>
                  <a:lnTo>
                    <a:pt x="10480694" y="0"/>
                  </a:lnTo>
                  <a:lnTo>
                    <a:pt x="10480694" y="1084690"/>
                  </a:lnTo>
                  <a:lnTo>
                    <a:pt x="0" y="1084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271" b="-138271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0480688" cy="11227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improves model learning.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0560" y="1275407"/>
            <a:ext cx="2560320" cy="4520660"/>
            <a:chOff x="0" y="0"/>
            <a:chExt cx="3413760" cy="60275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13760" cy="6027546"/>
            </a:xfrm>
            <a:custGeom>
              <a:avLst/>
              <a:gdLst/>
              <a:ahLst/>
              <a:cxnLst/>
              <a:rect l="l" t="t" r="r" b="b"/>
              <a:pathLst>
                <a:path w="3413760" h="6027546">
                  <a:moveTo>
                    <a:pt x="0" y="0"/>
                  </a:moveTo>
                  <a:lnTo>
                    <a:pt x="3413760" y="0"/>
                  </a:lnTo>
                  <a:lnTo>
                    <a:pt x="3413760" y="6027546"/>
                  </a:lnTo>
                  <a:lnTo>
                    <a:pt x="0" y="60275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540" r="-17654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413760" cy="60846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3"/>
                </a:lnSpc>
              </a:pPr>
              <a:r>
                <a:rPr lang="en-US" sz="298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Preprocessing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16437"/>
            <a:ext cx="1528201" cy="756971"/>
          </a:xfrm>
          <a:custGeom>
            <a:avLst/>
            <a:gdLst/>
            <a:ahLst/>
            <a:cxnLst/>
            <a:rect l="l" t="t" r="r" b="b"/>
            <a:pathLst>
              <a:path w="1528201" h="756971">
                <a:moveTo>
                  <a:pt x="0" y="0"/>
                </a:moveTo>
                <a:lnTo>
                  <a:pt x="1528201" y="0"/>
                </a:lnTo>
                <a:lnTo>
                  <a:pt x="1528201" y="756970"/>
                </a:lnTo>
                <a:lnTo>
                  <a:pt x="0" y="7569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09772" y="5053784"/>
            <a:ext cx="322497" cy="419833"/>
            <a:chOff x="0" y="0"/>
            <a:chExt cx="429997" cy="5597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0022" cy="559816"/>
            </a:xfrm>
            <a:custGeom>
              <a:avLst/>
              <a:gdLst/>
              <a:ahLst/>
              <a:cxnLst/>
              <a:rect l="l" t="t" r="r" b="b"/>
              <a:pathLst>
                <a:path w="430022" h="559816">
                  <a:moveTo>
                    <a:pt x="0" y="279908"/>
                  </a:moveTo>
                  <a:cubicBezTo>
                    <a:pt x="0" y="125349"/>
                    <a:pt x="96266" y="0"/>
                    <a:pt x="215011" y="0"/>
                  </a:cubicBezTo>
                  <a:cubicBezTo>
                    <a:pt x="333756" y="0"/>
                    <a:pt x="430022" y="125349"/>
                    <a:pt x="430022" y="279908"/>
                  </a:cubicBezTo>
                  <a:cubicBezTo>
                    <a:pt x="430022" y="434467"/>
                    <a:pt x="333756" y="559816"/>
                    <a:pt x="215011" y="559816"/>
                  </a:cubicBezTo>
                  <a:cubicBezTo>
                    <a:pt x="96266" y="559816"/>
                    <a:pt x="0" y="434467"/>
                    <a:pt x="0" y="279908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8" name="Freeform 8"/>
          <p:cNvSpPr/>
          <p:nvPr/>
        </p:nvSpPr>
        <p:spPr>
          <a:xfrm>
            <a:off x="3287697" y="5909262"/>
            <a:ext cx="780136" cy="1040187"/>
          </a:xfrm>
          <a:custGeom>
            <a:avLst/>
            <a:gdLst/>
            <a:ahLst/>
            <a:cxnLst/>
            <a:rect l="l" t="t" r="r" b="b"/>
            <a:pathLst>
              <a:path w="780136" h="1040187">
                <a:moveTo>
                  <a:pt x="0" y="0"/>
                </a:moveTo>
                <a:lnTo>
                  <a:pt x="780135" y="0"/>
                </a:lnTo>
                <a:lnTo>
                  <a:pt x="780135" y="1040188"/>
                </a:lnTo>
                <a:lnTo>
                  <a:pt x="0" y="1040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387310" y="514274"/>
            <a:ext cx="5041278" cy="1043492"/>
            <a:chOff x="0" y="0"/>
            <a:chExt cx="6721704" cy="139132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21729" cy="1391412"/>
            </a:xfrm>
            <a:custGeom>
              <a:avLst/>
              <a:gdLst/>
              <a:ahLst/>
              <a:cxnLst/>
              <a:rect l="l" t="t" r="r" b="b"/>
              <a:pathLst>
                <a:path w="6721729" h="1391412">
                  <a:moveTo>
                    <a:pt x="0" y="139192"/>
                  </a:moveTo>
                  <a:cubicBezTo>
                    <a:pt x="0" y="62230"/>
                    <a:pt x="62230" y="0"/>
                    <a:pt x="139192" y="0"/>
                  </a:cubicBezTo>
                  <a:lnTo>
                    <a:pt x="6582537" y="0"/>
                  </a:lnTo>
                  <a:cubicBezTo>
                    <a:pt x="6659372" y="0"/>
                    <a:pt x="6721729" y="62230"/>
                    <a:pt x="6721729" y="139192"/>
                  </a:cubicBezTo>
                  <a:lnTo>
                    <a:pt x="6721729" y="1252220"/>
                  </a:lnTo>
                  <a:cubicBezTo>
                    <a:pt x="6721729" y="1329055"/>
                    <a:pt x="6659499" y="1391412"/>
                    <a:pt x="6582537" y="1391412"/>
                  </a:cubicBezTo>
                  <a:lnTo>
                    <a:pt x="139192" y="1391412"/>
                  </a:lnTo>
                  <a:cubicBezTo>
                    <a:pt x="62230" y="1391285"/>
                    <a:pt x="0" y="1329055"/>
                    <a:pt x="0" y="125222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702969" y="749056"/>
            <a:ext cx="573919" cy="573919"/>
            <a:chOff x="0" y="0"/>
            <a:chExt cx="765226" cy="7652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5175" cy="765175"/>
            </a:xfrm>
            <a:custGeom>
              <a:avLst/>
              <a:gdLst/>
              <a:ahLst/>
              <a:cxnLst/>
              <a:rect l="l" t="t" r="r" b="b"/>
              <a:pathLst>
                <a:path w="765175" h="765175">
                  <a:moveTo>
                    <a:pt x="0" y="0"/>
                  </a:moveTo>
                  <a:lnTo>
                    <a:pt x="765175" y="0"/>
                  </a:lnTo>
                  <a:lnTo>
                    <a:pt x="765175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587460" y="509197"/>
            <a:ext cx="3846214" cy="1053646"/>
            <a:chOff x="0" y="0"/>
            <a:chExt cx="5128285" cy="14048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28282" cy="1404864"/>
            </a:xfrm>
            <a:custGeom>
              <a:avLst/>
              <a:gdLst/>
              <a:ahLst/>
              <a:cxnLst/>
              <a:rect l="l" t="t" r="r" b="b"/>
              <a:pathLst>
                <a:path w="5128282" h="1404864">
                  <a:moveTo>
                    <a:pt x="0" y="0"/>
                  </a:moveTo>
                  <a:lnTo>
                    <a:pt x="5128282" y="0"/>
                  </a:lnTo>
                  <a:lnTo>
                    <a:pt x="5128282" y="1404864"/>
                  </a:lnTo>
                  <a:lnTo>
                    <a:pt x="0" y="1404864"/>
                  </a:ln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t="-21127" b="-2112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128285" cy="1414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8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Images are resized before training.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387310" y="1818637"/>
            <a:ext cx="5041278" cy="1043492"/>
            <a:chOff x="0" y="0"/>
            <a:chExt cx="6721704" cy="139132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721729" cy="1391412"/>
            </a:xfrm>
            <a:custGeom>
              <a:avLst/>
              <a:gdLst/>
              <a:ahLst/>
              <a:cxnLst/>
              <a:rect l="l" t="t" r="r" b="b"/>
              <a:pathLst>
                <a:path w="6721729" h="1391412">
                  <a:moveTo>
                    <a:pt x="0" y="139192"/>
                  </a:moveTo>
                  <a:cubicBezTo>
                    <a:pt x="0" y="62230"/>
                    <a:pt x="62230" y="0"/>
                    <a:pt x="139192" y="0"/>
                  </a:cubicBezTo>
                  <a:lnTo>
                    <a:pt x="6582537" y="0"/>
                  </a:lnTo>
                  <a:cubicBezTo>
                    <a:pt x="6659372" y="0"/>
                    <a:pt x="6721729" y="62230"/>
                    <a:pt x="6721729" y="139192"/>
                  </a:cubicBezTo>
                  <a:lnTo>
                    <a:pt x="6721729" y="1252220"/>
                  </a:lnTo>
                  <a:cubicBezTo>
                    <a:pt x="6721729" y="1329055"/>
                    <a:pt x="6659499" y="1391412"/>
                    <a:pt x="6582537" y="1391412"/>
                  </a:cubicBezTo>
                  <a:lnTo>
                    <a:pt x="139192" y="1391412"/>
                  </a:lnTo>
                  <a:cubicBezTo>
                    <a:pt x="62230" y="1391285"/>
                    <a:pt x="0" y="1329055"/>
                    <a:pt x="0" y="125222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4702969" y="2053419"/>
            <a:ext cx="573919" cy="573919"/>
            <a:chOff x="0" y="0"/>
            <a:chExt cx="765226" cy="76522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65175" cy="765175"/>
            </a:xfrm>
            <a:custGeom>
              <a:avLst/>
              <a:gdLst/>
              <a:ahLst/>
              <a:cxnLst/>
              <a:rect l="l" t="t" r="r" b="b"/>
              <a:pathLst>
                <a:path w="765175" h="765175">
                  <a:moveTo>
                    <a:pt x="0" y="0"/>
                  </a:moveTo>
                  <a:lnTo>
                    <a:pt x="765175" y="0"/>
                  </a:lnTo>
                  <a:lnTo>
                    <a:pt x="765175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587460" y="1813560"/>
            <a:ext cx="3846214" cy="1053646"/>
            <a:chOff x="0" y="0"/>
            <a:chExt cx="5128285" cy="14048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8282" cy="1404864"/>
            </a:xfrm>
            <a:custGeom>
              <a:avLst/>
              <a:gdLst/>
              <a:ahLst/>
              <a:cxnLst/>
              <a:rect l="l" t="t" r="r" b="b"/>
              <a:pathLst>
                <a:path w="5128282" h="1404864">
                  <a:moveTo>
                    <a:pt x="0" y="0"/>
                  </a:moveTo>
                  <a:lnTo>
                    <a:pt x="5128282" y="0"/>
                  </a:lnTo>
                  <a:lnTo>
                    <a:pt x="5128282" y="1404864"/>
                  </a:lnTo>
                  <a:lnTo>
                    <a:pt x="0" y="1404864"/>
                  </a:ln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t="-21127" b="-2112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5128285" cy="1414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8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Noise removal improves quality.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87310" y="3123000"/>
            <a:ext cx="5041278" cy="1043492"/>
            <a:chOff x="0" y="0"/>
            <a:chExt cx="6721704" cy="139132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721729" cy="1391412"/>
            </a:xfrm>
            <a:custGeom>
              <a:avLst/>
              <a:gdLst/>
              <a:ahLst/>
              <a:cxnLst/>
              <a:rect l="l" t="t" r="r" b="b"/>
              <a:pathLst>
                <a:path w="6721729" h="1391412">
                  <a:moveTo>
                    <a:pt x="0" y="139192"/>
                  </a:moveTo>
                  <a:cubicBezTo>
                    <a:pt x="0" y="62230"/>
                    <a:pt x="62230" y="0"/>
                    <a:pt x="139192" y="0"/>
                  </a:cubicBezTo>
                  <a:lnTo>
                    <a:pt x="6582537" y="0"/>
                  </a:lnTo>
                  <a:cubicBezTo>
                    <a:pt x="6659372" y="0"/>
                    <a:pt x="6721729" y="62230"/>
                    <a:pt x="6721729" y="139192"/>
                  </a:cubicBezTo>
                  <a:lnTo>
                    <a:pt x="6721729" y="1252220"/>
                  </a:lnTo>
                  <a:cubicBezTo>
                    <a:pt x="6721729" y="1329055"/>
                    <a:pt x="6659499" y="1391412"/>
                    <a:pt x="6582537" y="1391412"/>
                  </a:cubicBezTo>
                  <a:lnTo>
                    <a:pt x="139192" y="1391412"/>
                  </a:lnTo>
                  <a:cubicBezTo>
                    <a:pt x="62230" y="1391285"/>
                    <a:pt x="0" y="1329055"/>
                    <a:pt x="0" y="125222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4702969" y="3357782"/>
            <a:ext cx="573919" cy="573919"/>
            <a:chOff x="0" y="0"/>
            <a:chExt cx="765226" cy="76522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65175" cy="765175"/>
            </a:xfrm>
            <a:custGeom>
              <a:avLst/>
              <a:gdLst/>
              <a:ahLst/>
              <a:cxnLst/>
              <a:rect l="l" t="t" r="r" b="b"/>
              <a:pathLst>
                <a:path w="765175" h="765175">
                  <a:moveTo>
                    <a:pt x="0" y="0"/>
                  </a:moveTo>
                  <a:lnTo>
                    <a:pt x="765175" y="0"/>
                  </a:lnTo>
                  <a:lnTo>
                    <a:pt x="765175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5587460" y="3117914"/>
            <a:ext cx="3846214" cy="1053646"/>
            <a:chOff x="0" y="0"/>
            <a:chExt cx="5128285" cy="14048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28282" cy="1404864"/>
            </a:xfrm>
            <a:custGeom>
              <a:avLst/>
              <a:gdLst/>
              <a:ahLst/>
              <a:cxnLst/>
              <a:rect l="l" t="t" r="r" b="b"/>
              <a:pathLst>
                <a:path w="5128282" h="1404864">
                  <a:moveTo>
                    <a:pt x="0" y="0"/>
                  </a:moveTo>
                  <a:lnTo>
                    <a:pt x="5128282" y="0"/>
                  </a:lnTo>
                  <a:lnTo>
                    <a:pt x="5128282" y="1404864"/>
                  </a:lnTo>
                  <a:lnTo>
                    <a:pt x="0" y="1404864"/>
                  </a:ln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t="-21127" b="-2112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5128285" cy="1414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8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Normalization stabilizes training.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7310" y="4427353"/>
            <a:ext cx="5041278" cy="1043492"/>
            <a:chOff x="0" y="0"/>
            <a:chExt cx="6721704" cy="139132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721729" cy="1391412"/>
            </a:xfrm>
            <a:custGeom>
              <a:avLst/>
              <a:gdLst/>
              <a:ahLst/>
              <a:cxnLst/>
              <a:rect l="l" t="t" r="r" b="b"/>
              <a:pathLst>
                <a:path w="6721729" h="1391412">
                  <a:moveTo>
                    <a:pt x="0" y="139192"/>
                  </a:moveTo>
                  <a:cubicBezTo>
                    <a:pt x="0" y="62230"/>
                    <a:pt x="62230" y="0"/>
                    <a:pt x="139192" y="0"/>
                  </a:cubicBezTo>
                  <a:lnTo>
                    <a:pt x="6582537" y="0"/>
                  </a:lnTo>
                  <a:cubicBezTo>
                    <a:pt x="6659372" y="0"/>
                    <a:pt x="6721729" y="62230"/>
                    <a:pt x="6721729" y="139192"/>
                  </a:cubicBezTo>
                  <a:lnTo>
                    <a:pt x="6721729" y="1252220"/>
                  </a:lnTo>
                  <a:cubicBezTo>
                    <a:pt x="6721729" y="1329055"/>
                    <a:pt x="6659499" y="1391412"/>
                    <a:pt x="6582537" y="1391412"/>
                  </a:cubicBezTo>
                  <a:lnTo>
                    <a:pt x="139192" y="1391412"/>
                  </a:lnTo>
                  <a:cubicBezTo>
                    <a:pt x="62230" y="1391285"/>
                    <a:pt x="0" y="1329055"/>
                    <a:pt x="0" y="125222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702969" y="4662145"/>
            <a:ext cx="573919" cy="573919"/>
            <a:chOff x="0" y="0"/>
            <a:chExt cx="765226" cy="76522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65175" cy="765175"/>
            </a:xfrm>
            <a:custGeom>
              <a:avLst/>
              <a:gdLst/>
              <a:ahLst/>
              <a:cxnLst/>
              <a:rect l="l" t="t" r="r" b="b"/>
              <a:pathLst>
                <a:path w="765175" h="765175">
                  <a:moveTo>
                    <a:pt x="0" y="0"/>
                  </a:moveTo>
                  <a:lnTo>
                    <a:pt x="765175" y="0"/>
                  </a:lnTo>
                  <a:lnTo>
                    <a:pt x="765175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5587460" y="4422277"/>
            <a:ext cx="3846214" cy="1053646"/>
            <a:chOff x="0" y="0"/>
            <a:chExt cx="5128285" cy="140486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128282" cy="1404864"/>
            </a:xfrm>
            <a:custGeom>
              <a:avLst/>
              <a:gdLst/>
              <a:ahLst/>
              <a:cxnLst/>
              <a:rect l="l" t="t" r="r" b="b"/>
              <a:pathLst>
                <a:path w="5128282" h="1404864">
                  <a:moveTo>
                    <a:pt x="0" y="0"/>
                  </a:moveTo>
                  <a:lnTo>
                    <a:pt x="5128282" y="0"/>
                  </a:lnTo>
                  <a:lnTo>
                    <a:pt x="5128282" y="1404864"/>
                  </a:lnTo>
                  <a:lnTo>
                    <a:pt x="0" y="1404864"/>
                  </a:ln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t="-21127" b="-21127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5128285" cy="1414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8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augmentation increases accuracy.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87310" y="5731716"/>
            <a:ext cx="5041278" cy="1043492"/>
            <a:chOff x="0" y="0"/>
            <a:chExt cx="6721704" cy="139132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721729" cy="1391412"/>
            </a:xfrm>
            <a:custGeom>
              <a:avLst/>
              <a:gdLst/>
              <a:ahLst/>
              <a:cxnLst/>
              <a:rect l="l" t="t" r="r" b="b"/>
              <a:pathLst>
                <a:path w="6721729" h="1391412">
                  <a:moveTo>
                    <a:pt x="0" y="139192"/>
                  </a:moveTo>
                  <a:cubicBezTo>
                    <a:pt x="0" y="62230"/>
                    <a:pt x="62230" y="0"/>
                    <a:pt x="139192" y="0"/>
                  </a:cubicBezTo>
                  <a:lnTo>
                    <a:pt x="6582537" y="0"/>
                  </a:lnTo>
                  <a:cubicBezTo>
                    <a:pt x="6659372" y="0"/>
                    <a:pt x="6721729" y="62230"/>
                    <a:pt x="6721729" y="139192"/>
                  </a:cubicBezTo>
                  <a:lnTo>
                    <a:pt x="6721729" y="1252220"/>
                  </a:lnTo>
                  <a:cubicBezTo>
                    <a:pt x="6721729" y="1329055"/>
                    <a:pt x="6659499" y="1391412"/>
                    <a:pt x="6582537" y="1391412"/>
                  </a:cubicBezTo>
                  <a:lnTo>
                    <a:pt x="139192" y="1391412"/>
                  </a:lnTo>
                  <a:cubicBezTo>
                    <a:pt x="62230" y="1391285"/>
                    <a:pt x="0" y="1329055"/>
                    <a:pt x="0" y="125222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4702969" y="5966498"/>
            <a:ext cx="573919" cy="573919"/>
            <a:chOff x="0" y="0"/>
            <a:chExt cx="765226" cy="76522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65175" cy="765175"/>
            </a:xfrm>
            <a:custGeom>
              <a:avLst/>
              <a:gdLst/>
              <a:ahLst/>
              <a:cxnLst/>
              <a:rect l="l" t="t" r="r" b="b"/>
              <a:pathLst>
                <a:path w="765175" h="765175">
                  <a:moveTo>
                    <a:pt x="0" y="0"/>
                  </a:moveTo>
                  <a:lnTo>
                    <a:pt x="765175" y="0"/>
                  </a:lnTo>
                  <a:lnTo>
                    <a:pt x="765175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5587460" y="5726640"/>
            <a:ext cx="3846214" cy="1053646"/>
            <a:chOff x="0" y="0"/>
            <a:chExt cx="5128285" cy="140486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28282" cy="1404864"/>
            </a:xfrm>
            <a:custGeom>
              <a:avLst/>
              <a:gdLst/>
              <a:ahLst/>
              <a:cxnLst/>
              <a:rect l="l" t="t" r="r" b="b"/>
              <a:pathLst>
                <a:path w="5128282" h="1404864">
                  <a:moveTo>
                    <a:pt x="0" y="0"/>
                  </a:moveTo>
                  <a:lnTo>
                    <a:pt x="5128282" y="0"/>
                  </a:lnTo>
                  <a:lnTo>
                    <a:pt x="5128282" y="1404864"/>
                  </a:lnTo>
                  <a:lnTo>
                    <a:pt x="0" y="1404864"/>
                  </a:ln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t="-21127" b="-2112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5128285" cy="1414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8"/>
                </a:lnSpc>
              </a:pPr>
              <a:r>
                <a:rPr lang="en-US" sz="202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Preprocessing improves prediction results.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75819" y="2201660"/>
            <a:ext cx="4153242" cy="2747439"/>
          </a:xfrm>
          <a:custGeom>
            <a:avLst/>
            <a:gdLst/>
            <a:ahLst/>
            <a:cxnLst/>
            <a:rect l="l" t="t" r="r" b="b"/>
            <a:pathLst>
              <a:path w="4153242" h="2747439">
                <a:moveTo>
                  <a:pt x="0" y="0"/>
                </a:moveTo>
                <a:lnTo>
                  <a:pt x="4153242" y="0"/>
                </a:lnTo>
                <a:lnTo>
                  <a:pt x="4153242" y="2747440"/>
                </a:lnTo>
                <a:lnTo>
                  <a:pt x="0" y="27474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151" r="-16151"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309772" y="906732"/>
            <a:ext cx="3768737" cy="58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 processing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90" b="-709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70560" y="389468"/>
            <a:ext cx="8412480" cy="1413934"/>
            <a:chOff x="0" y="0"/>
            <a:chExt cx="11216640" cy="18852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216640" cy="1885239"/>
            </a:xfrm>
            <a:custGeom>
              <a:avLst/>
              <a:gdLst/>
              <a:ahLst/>
              <a:cxnLst/>
              <a:rect l="l" t="t" r="r" b="b"/>
              <a:pathLst>
                <a:path w="11216640" h="1885239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930" b="-6593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11216640" cy="19804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0560" y="2559263"/>
            <a:ext cx="2628900" cy="1577340"/>
            <a:chOff x="0" y="0"/>
            <a:chExt cx="3505200" cy="2103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05200" cy="2103120"/>
            </a:xfrm>
            <a:custGeom>
              <a:avLst/>
              <a:gdLst/>
              <a:ahLst/>
              <a:cxnLst/>
              <a:rect l="l" t="t" r="r" b="b"/>
              <a:pathLst>
                <a:path w="3505200" h="2103120">
                  <a:moveTo>
                    <a:pt x="0" y="0"/>
                  </a:moveTo>
                  <a:lnTo>
                    <a:pt x="3505200" y="0"/>
                  </a:lnTo>
                  <a:lnTo>
                    <a:pt x="3505200" y="2103120"/>
                  </a:lnTo>
                  <a:lnTo>
                    <a:pt x="0" y="2103120"/>
                  </a:lnTo>
                  <a:close/>
                </a:path>
              </a:pathLst>
            </a:custGeom>
            <a:gradFill rotWithShape="1">
              <a:gsLst>
                <a:gs pos="0">
                  <a:srgbClr val="D1403C">
                    <a:alpha val="100000"/>
                  </a:srgbClr>
                </a:gs>
                <a:gs pos="100000">
                  <a:srgbClr val="FFA6A5">
                    <a:alpha val="100000"/>
                  </a:srgbClr>
                </a:gs>
              </a:gsLst>
              <a:lin ang="16200000"/>
            </a:gradFill>
          </p:spPr>
        </p:sp>
      </p:grpSp>
      <p:grpSp>
        <p:nvGrpSpPr>
          <p:cNvPr id="8" name="Group 8"/>
          <p:cNvGrpSpPr/>
          <p:nvPr/>
        </p:nvGrpSpPr>
        <p:grpSpPr>
          <a:xfrm>
            <a:off x="665483" y="2554186"/>
            <a:ext cx="2639063" cy="1587503"/>
            <a:chOff x="0" y="0"/>
            <a:chExt cx="3518751" cy="21166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18751" cy="2116671"/>
            </a:xfrm>
            <a:custGeom>
              <a:avLst/>
              <a:gdLst/>
              <a:ahLst/>
              <a:cxnLst/>
              <a:rect l="l" t="t" r="r" b="b"/>
              <a:pathLst>
                <a:path w="3518751" h="2116671">
                  <a:moveTo>
                    <a:pt x="0" y="0"/>
                  </a:moveTo>
                  <a:lnTo>
                    <a:pt x="3518751" y="0"/>
                  </a:lnTo>
                  <a:lnTo>
                    <a:pt x="3518751" y="2116671"/>
                  </a:lnTo>
                  <a:lnTo>
                    <a:pt x="0" y="2116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0" y="0"/>
              <a:ext cx="3518751" cy="2116671"/>
              <a:chOff x="0" y="0"/>
              <a:chExt cx="3518751" cy="211667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518746" cy="2116666"/>
              </a:xfrm>
              <a:custGeom>
                <a:avLst/>
                <a:gdLst/>
                <a:ahLst/>
                <a:cxnLst/>
                <a:rect l="l" t="t" r="r" b="b"/>
                <a:pathLst>
                  <a:path w="3518746" h="2116666">
                    <a:moveTo>
                      <a:pt x="0" y="0"/>
                    </a:moveTo>
                    <a:lnTo>
                      <a:pt x="3518746" y="0"/>
                    </a:lnTo>
                    <a:lnTo>
                      <a:pt x="3518746" y="2116666"/>
                    </a:lnTo>
                    <a:lnTo>
                      <a:pt x="0" y="2116666"/>
                    </a:lnTo>
                    <a:close/>
                  </a:path>
                </a:pathLst>
              </a:custGeom>
              <a:blipFill>
                <a:blip r:embed="rId5" cstate="print">
                  <a:alphaModFix amt="0"/>
                </a:blip>
                <a:stretch>
                  <a:fillRect l="-27179" r="-27179"/>
                </a:stretch>
              </a:blip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28575"/>
                <a:ext cx="3518751" cy="21452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10"/>
                  </a:lnSpc>
                </a:pPr>
                <a:r>
                  <a:rPr lang="en-US" sz="287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CNN is used for image classification.</a:t>
                </a:r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3562350" y="2559263"/>
            <a:ext cx="2628900" cy="1577340"/>
            <a:chOff x="0" y="0"/>
            <a:chExt cx="3505200" cy="21031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05200" cy="2103120"/>
            </a:xfrm>
            <a:custGeom>
              <a:avLst/>
              <a:gdLst/>
              <a:ahLst/>
              <a:cxnLst/>
              <a:rect l="l" t="t" r="r" b="b"/>
              <a:pathLst>
                <a:path w="3505200" h="2103120">
                  <a:moveTo>
                    <a:pt x="0" y="0"/>
                  </a:moveTo>
                  <a:lnTo>
                    <a:pt x="3505200" y="0"/>
                  </a:lnTo>
                  <a:lnTo>
                    <a:pt x="3505200" y="2103120"/>
                  </a:lnTo>
                  <a:lnTo>
                    <a:pt x="0" y="2103120"/>
                  </a:lnTo>
                  <a:close/>
                </a:path>
              </a:pathLst>
            </a:custGeom>
            <a:gradFill rotWithShape="1">
              <a:gsLst>
                <a:gs pos="0">
                  <a:srgbClr val="83D03F">
                    <a:alpha val="100000"/>
                  </a:srgbClr>
                </a:gs>
                <a:gs pos="100000">
                  <a:srgbClr val="D1FFA7">
                    <a:alpha val="100000"/>
                  </a:srgbClr>
                </a:gs>
              </a:gsLst>
              <a:lin ang="16200000"/>
            </a:gradFill>
          </p:spPr>
        </p:sp>
      </p:grpSp>
      <p:grpSp>
        <p:nvGrpSpPr>
          <p:cNvPr id="15" name="Group 15"/>
          <p:cNvGrpSpPr/>
          <p:nvPr/>
        </p:nvGrpSpPr>
        <p:grpSpPr>
          <a:xfrm>
            <a:off x="3557273" y="2554186"/>
            <a:ext cx="2639063" cy="1587503"/>
            <a:chOff x="0" y="0"/>
            <a:chExt cx="3518751" cy="211667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18751" cy="2116671"/>
            </a:xfrm>
            <a:custGeom>
              <a:avLst/>
              <a:gdLst/>
              <a:ahLst/>
              <a:cxnLst/>
              <a:rect l="l" t="t" r="r" b="b"/>
              <a:pathLst>
                <a:path w="3518751" h="2116671">
                  <a:moveTo>
                    <a:pt x="0" y="0"/>
                  </a:moveTo>
                  <a:lnTo>
                    <a:pt x="3518751" y="0"/>
                  </a:lnTo>
                  <a:lnTo>
                    <a:pt x="3518751" y="2116671"/>
                  </a:lnTo>
                  <a:lnTo>
                    <a:pt x="0" y="2116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7" name="Group 17"/>
            <p:cNvGrpSpPr/>
            <p:nvPr/>
          </p:nvGrpSpPr>
          <p:grpSpPr>
            <a:xfrm>
              <a:off x="0" y="0"/>
              <a:ext cx="3518751" cy="2116671"/>
              <a:chOff x="0" y="0"/>
              <a:chExt cx="3518751" cy="21166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518746" cy="2116666"/>
              </a:xfrm>
              <a:custGeom>
                <a:avLst/>
                <a:gdLst/>
                <a:ahLst/>
                <a:cxnLst/>
                <a:rect l="l" t="t" r="r" b="b"/>
                <a:pathLst>
                  <a:path w="3518746" h="2116666">
                    <a:moveTo>
                      <a:pt x="0" y="0"/>
                    </a:moveTo>
                    <a:lnTo>
                      <a:pt x="3518746" y="0"/>
                    </a:lnTo>
                    <a:lnTo>
                      <a:pt x="3518746" y="2116666"/>
                    </a:lnTo>
                    <a:lnTo>
                      <a:pt x="0" y="2116666"/>
                    </a:lnTo>
                    <a:close/>
                  </a:path>
                </a:pathLst>
              </a:custGeom>
              <a:blipFill>
                <a:blip r:embed="rId5" cstate="print">
                  <a:alphaModFix amt="0"/>
                </a:blip>
                <a:stretch>
                  <a:fillRect l="-27179" r="-27179"/>
                </a:stretch>
              </a:blip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3518751" cy="21452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10"/>
                  </a:lnSpc>
                </a:pPr>
                <a:r>
                  <a:rPr lang="en-US" sz="287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Convolution layers extract features.</a:t>
                </a:r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6454140" y="2559263"/>
            <a:ext cx="2628900" cy="1577340"/>
            <a:chOff x="0" y="0"/>
            <a:chExt cx="3505200" cy="2103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05200" cy="2103120"/>
            </a:xfrm>
            <a:custGeom>
              <a:avLst/>
              <a:gdLst/>
              <a:ahLst/>
              <a:cxnLst/>
              <a:rect l="l" t="t" r="r" b="b"/>
              <a:pathLst>
                <a:path w="3505200" h="2103120">
                  <a:moveTo>
                    <a:pt x="0" y="0"/>
                  </a:moveTo>
                  <a:lnTo>
                    <a:pt x="3505200" y="0"/>
                  </a:lnTo>
                  <a:lnTo>
                    <a:pt x="3505200" y="2103120"/>
                  </a:lnTo>
                  <a:lnTo>
                    <a:pt x="0" y="2103120"/>
                  </a:lnTo>
                  <a:close/>
                </a:path>
              </a:pathLst>
            </a:custGeom>
            <a:gradFill rotWithShape="1">
              <a:gsLst>
                <a:gs pos="0">
                  <a:srgbClr val="42C9CE">
                    <a:alpha val="100000"/>
                  </a:srgbClr>
                </a:gs>
                <a:gs pos="100000">
                  <a:srgbClr val="A9FDFF">
                    <a:alpha val="100000"/>
                  </a:srgbClr>
                </a:gs>
              </a:gsLst>
              <a:lin ang="16200000"/>
            </a:gradFill>
          </p:spPr>
        </p:sp>
      </p:grpSp>
      <p:grpSp>
        <p:nvGrpSpPr>
          <p:cNvPr id="22" name="Group 22"/>
          <p:cNvGrpSpPr/>
          <p:nvPr/>
        </p:nvGrpSpPr>
        <p:grpSpPr>
          <a:xfrm>
            <a:off x="6449063" y="2554186"/>
            <a:ext cx="2639063" cy="1587503"/>
            <a:chOff x="0" y="0"/>
            <a:chExt cx="3518751" cy="21166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18751" cy="2116671"/>
            </a:xfrm>
            <a:custGeom>
              <a:avLst/>
              <a:gdLst/>
              <a:ahLst/>
              <a:cxnLst/>
              <a:rect l="l" t="t" r="r" b="b"/>
              <a:pathLst>
                <a:path w="3518751" h="2116671">
                  <a:moveTo>
                    <a:pt x="0" y="0"/>
                  </a:moveTo>
                  <a:lnTo>
                    <a:pt x="3518751" y="0"/>
                  </a:lnTo>
                  <a:lnTo>
                    <a:pt x="3518751" y="2116671"/>
                  </a:lnTo>
                  <a:lnTo>
                    <a:pt x="0" y="2116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4" name="Group 24"/>
            <p:cNvGrpSpPr/>
            <p:nvPr/>
          </p:nvGrpSpPr>
          <p:grpSpPr>
            <a:xfrm>
              <a:off x="0" y="0"/>
              <a:ext cx="3518751" cy="2116671"/>
              <a:chOff x="0" y="0"/>
              <a:chExt cx="3518751" cy="211667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518746" cy="2116666"/>
              </a:xfrm>
              <a:custGeom>
                <a:avLst/>
                <a:gdLst/>
                <a:ahLst/>
                <a:cxnLst/>
                <a:rect l="l" t="t" r="r" b="b"/>
                <a:pathLst>
                  <a:path w="3518746" h="2116666">
                    <a:moveTo>
                      <a:pt x="0" y="0"/>
                    </a:moveTo>
                    <a:lnTo>
                      <a:pt x="3518746" y="0"/>
                    </a:lnTo>
                    <a:lnTo>
                      <a:pt x="3518746" y="2116666"/>
                    </a:lnTo>
                    <a:lnTo>
                      <a:pt x="0" y="2116666"/>
                    </a:lnTo>
                    <a:close/>
                  </a:path>
                </a:pathLst>
              </a:custGeom>
              <a:blipFill>
                <a:blip r:embed="rId5" cstate="print">
                  <a:alphaModFix amt="0"/>
                </a:blip>
                <a:stretch>
                  <a:fillRect l="-27179" r="-27179"/>
                </a:stretch>
              </a:blip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3518751" cy="21452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10"/>
                  </a:lnSpc>
                </a:pPr>
                <a:r>
                  <a:rPr lang="en-US" sz="287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Pooling layers reduce dimensions.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2116455" y="4399493"/>
            <a:ext cx="2628900" cy="1577340"/>
            <a:chOff x="0" y="0"/>
            <a:chExt cx="3505200" cy="21031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505200" cy="2103120"/>
            </a:xfrm>
            <a:custGeom>
              <a:avLst/>
              <a:gdLst/>
              <a:ahLst/>
              <a:cxnLst/>
              <a:rect l="l" t="t" r="r" b="b"/>
              <a:pathLst>
                <a:path w="3505200" h="2103120">
                  <a:moveTo>
                    <a:pt x="0" y="0"/>
                  </a:moveTo>
                  <a:lnTo>
                    <a:pt x="3505200" y="0"/>
                  </a:lnTo>
                  <a:lnTo>
                    <a:pt x="3505200" y="2103120"/>
                  </a:lnTo>
                  <a:lnTo>
                    <a:pt x="0" y="2103120"/>
                  </a:lnTo>
                  <a:close/>
                </a:path>
              </a:pathLst>
            </a:custGeom>
            <a:gradFill rotWithShape="1">
              <a:gsLst>
                <a:gs pos="0">
                  <a:srgbClr val="8F45CD">
                    <a:alpha val="100000"/>
                  </a:srgbClr>
                </a:gs>
                <a:gs pos="100000">
                  <a:srgbClr val="D7AAFF">
                    <a:alpha val="100000"/>
                  </a:srgbClr>
                </a:gs>
              </a:gsLst>
              <a:lin ang="16200000"/>
            </a:gradFill>
          </p:spPr>
        </p:sp>
      </p:grpSp>
      <p:grpSp>
        <p:nvGrpSpPr>
          <p:cNvPr id="29" name="Group 29"/>
          <p:cNvGrpSpPr/>
          <p:nvPr/>
        </p:nvGrpSpPr>
        <p:grpSpPr>
          <a:xfrm>
            <a:off x="2111378" y="4394416"/>
            <a:ext cx="2639063" cy="1587503"/>
            <a:chOff x="0" y="0"/>
            <a:chExt cx="3518751" cy="211667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18751" cy="2116671"/>
            </a:xfrm>
            <a:custGeom>
              <a:avLst/>
              <a:gdLst/>
              <a:ahLst/>
              <a:cxnLst/>
              <a:rect l="l" t="t" r="r" b="b"/>
              <a:pathLst>
                <a:path w="3518751" h="2116671">
                  <a:moveTo>
                    <a:pt x="0" y="0"/>
                  </a:moveTo>
                  <a:lnTo>
                    <a:pt x="3518751" y="0"/>
                  </a:lnTo>
                  <a:lnTo>
                    <a:pt x="3518751" y="2116671"/>
                  </a:lnTo>
                  <a:lnTo>
                    <a:pt x="0" y="2116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1" name="Group 31"/>
            <p:cNvGrpSpPr/>
            <p:nvPr/>
          </p:nvGrpSpPr>
          <p:grpSpPr>
            <a:xfrm>
              <a:off x="0" y="0"/>
              <a:ext cx="3518751" cy="2116671"/>
              <a:chOff x="0" y="0"/>
              <a:chExt cx="3518751" cy="211667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3518746" cy="2116666"/>
              </a:xfrm>
              <a:custGeom>
                <a:avLst/>
                <a:gdLst/>
                <a:ahLst/>
                <a:cxnLst/>
                <a:rect l="l" t="t" r="r" b="b"/>
                <a:pathLst>
                  <a:path w="3518746" h="2116666">
                    <a:moveTo>
                      <a:pt x="0" y="0"/>
                    </a:moveTo>
                    <a:lnTo>
                      <a:pt x="3518746" y="0"/>
                    </a:lnTo>
                    <a:lnTo>
                      <a:pt x="3518746" y="2116666"/>
                    </a:lnTo>
                    <a:lnTo>
                      <a:pt x="0" y="2116666"/>
                    </a:lnTo>
                    <a:close/>
                  </a:path>
                </a:pathLst>
              </a:custGeom>
              <a:blipFill>
                <a:blip r:embed="rId5" cstate="print">
                  <a:alphaModFix amt="0"/>
                </a:blip>
                <a:stretch>
                  <a:fillRect l="-27179" r="-27179"/>
                </a:stretch>
              </a:blip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28575"/>
                <a:ext cx="3518751" cy="21452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10"/>
                  </a:lnSpc>
                </a:pPr>
                <a:r>
                  <a:rPr lang="en-US" sz="287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Dense layers classify diseases.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008245" y="4399493"/>
            <a:ext cx="2628900" cy="1577340"/>
            <a:chOff x="0" y="0"/>
            <a:chExt cx="3505200" cy="21031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505200" cy="2103120"/>
            </a:xfrm>
            <a:custGeom>
              <a:avLst/>
              <a:gdLst/>
              <a:ahLst/>
              <a:cxnLst/>
              <a:rect l="l" t="t" r="r" b="b"/>
              <a:pathLst>
                <a:path w="3505200" h="2103120">
                  <a:moveTo>
                    <a:pt x="0" y="0"/>
                  </a:moveTo>
                  <a:lnTo>
                    <a:pt x="3505200" y="0"/>
                  </a:lnTo>
                  <a:lnTo>
                    <a:pt x="3505200" y="2103120"/>
                  </a:lnTo>
                  <a:lnTo>
                    <a:pt x="0" y="2103120"/>
                  </a:lnTo>
                  <a:close/>
                </a:path>
              </a:pathLst>
            </a:custGeom>
            <a:gradFill rotWithShape="1">
              <a:gsLst>
                <a:gs pos="0">
                  <a:srgbClr val="CC4F48">
                    <a:alpha val="100000"/>
                  </a:srgbClr>
                </a:gs>
                <a:gs pos="100000">
                  <a:srgbClr val="FFAFAC">
                    <a:alpha val="100000"/>
                  </a:srgbClr>
                </a:gs>
              </a:gsLst>
              <a:lin ang="16200000"/>
            </a:gradFill>
          </p:spPr>
        </p:sp>
      </p:grpSp>
      <p:grpSp>
        <p:nvGrpSpPr>
          <p:cNvPr id="36" name="Group 36"/>
          <p:cNvGrpSpPr/>
          <p:nvPr/>
        </p:nvGrpSpPr>
        <p:grpSpPr>
          <a:xfrm>
            <a:off x="5003168" y="4394416"/>
            <a:ext cx="2639063" cy="1587503"/>
            <a:chOff x="0" y="0"/>
            <a:chExt cx="3518751" cy="211667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518751" cy="2116671"/>
            </a:xfrm>
            <a:custGeom>
              <a:avLst/>
              <a:gdLst/>
              <a:ahLst/>
              <a:cxnLst/>
              <a:rect l="l" t="t" r="r" b="b"/>
              <a:pathLst>
                <a:path w="3518751" h="2116671">
                  <a:moveTo>
                    <a:pt x="0" y="0"/>
                  </a:moveTo>
                  <a:lnTo>
                    <a:pt x="3518751" y="0"/>
                  </a:lnTo>
                  <a:lnTo>
                    <a:pt x="3518751" y="2116671"/>
                  </a:lnTo>
                  <a:lnTo>
                    <a:pt x="0" y="2116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8" name="Group 38"/>
            <p:cNvGrpSpPr/>
            <p:nvPr/>
          </p:nvGrpSpPr>
          <p:grpSpPr>
            <a:xfrm>
              <a:off x="0" y="0"/>
              <a:ext cx="3518751" cy="2116671"/>
              <a:chOff x="0" y="0"/>
              <a:chExt cx="3518751" cy="211667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3518746" cy="2116666"/>
              </a:xfrm>
              <a:custGeom>
                <a:avLst/>
                <a:gdLst/>
                <a:ahLst/>
                <a:cxnLst/>
                <a:rect l="l" t="t" r="r" b="b"/>
                <a:pathLst>
                  <a:path w="3518746" h="2116666">
                    <a:moveTo>
                      <a:pt x="0" y="0"/>
                    </a:moveTo>
                    <a:lnTo>
                      <a:pt x="3518746" y="0"/>
                    </a:lnTo>
                    <a:lnTo>
                      <a:pt x="3518746" y="2116666"/>
                    </a:lnTo>
                    <a:lnTo>
                      <a:pt x="0" y="2116666"/>
                    </a:lnTo>
                    <a:close/>
                  </a:path>
                </a:pathLst>
              </a:custGeom>
              <a:blipFill>
                <a:blip r:embed="rId5" cstate="print">
                  <a:alphaModFix amt="0"/>
                </a:blip>
                <a:stretch>
                  <a:fillRect l="-27179" r="-27179"/>
                </a:stretch>
              </a:blip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28575"/>
                <a:ext cx="3518751" cy="21452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110"/>
                  </a:lnSpc>
                </a:pPr>
                <a:r>
                  <a:rPr lang="en-US" sz="2879">
                    <a:solidFill>
                      <a:srgbClr val="FFFFFF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Softmax predicts disease categories.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3122091" y="668657"/>
            <a:ext cx="3509427" cy="76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4"/>
              </a:lnSpc>
            </a:pPr>
            <a:r>
              <a:rPr lang="en-US" sz="4488" b="1">
                <a:solidFill>
                  <a:srgbClr val="FE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CNN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4810" y="348825"/>
            <a:ext cx="4259580" cy="1739055"/>
            <a:chOff x="0" y="0"/>
            <a:chExt cx="5679440" cy="23187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79442" cy="2318739"/>
            </a:xfrm>
            <a:custGeom>
              <a:avLst/>
              <a:gdLst/>
              <a:ahLst/>
              <a:cxnLst/>
              <a:rect l="l" t="t" r="r" b="b"/>
              <a:pathLst>
                <a:path w="5679442" h="2318739">
                  <a:moveTo>
                    <a:pt x="0" y="0"/>
                  </a:moveTo>
                  <a:lnTo>
                    <a:pt x="5679442" y="0"/>
                  </a:lnTo>
                  <a:lnTo>
                    <a:pt x="5679442" y="2318739"/>
                  </a:lnTo>
                  <a:lnTo>
                    <a:pt x="0" y="23187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82" r="-238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5679440" cy="238541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967"/>
                </a:lnSpc>
              </a:pPr>
              <a:r>
                <a:rPr lang="en-US" sz="330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1265" y="2425360"/>
            <a:ext cx="4286679" cy="27089"/>
            <a:chOff x="0" y="0"/>
            <a:chExt cx="5715572" cy="361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15508" cy="36068"/>
            </a:xfrm>
            <a:custGeom>
              <a:avLst/>
              <a:gdLst/>
              <a:ahLst/>
              <a:cxnLst/>
              <a:rect l="l" t="t" r="r" b="b"/>
              <a:pathLst>
                <a:path w="5715508" h="36068">
                  <a:moveTo>
                    <a:pt x="0" y="0"/>
                  </a:moveTo>
                  <a:lnTo>
                    <a:pt x="5715508" y="36068"/>
                  </a:lnTo>
                </a:path>
              </a:pathLst>
            </a:custGeom>
            <a:solidFill>
              <a:srgbClr val="C0504D"/>
            </a:solidFill>
            <a:ln w="27093" cap="sq">
              <a:solidFill>
                <a:srgbClr val="C0504D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71265" y="3261331"/>
            <a:ext cx="4286679" cy="27089"/>
            <a:chOff x="0" y="0"/>
            <a:chExt cx="5715572" cy="361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508" cy="36068"/>
            </a:xfrm>
            <a:custGeom>
              <a:avLst/>
              <a:gdLst/>
              <a:ahLst/>
              <a:cxnLst/>
              <a:rect l="l" t="t" r="r" b="b"/>
              <a:pathLst>
                <a:path w="5715508" h="36068">
                  <a:moveTo>
                    <a:pt x="0" y="0"/>
                  </a:moveTo>
                  <a:lnTo>
                    <a:pt x="5715508" y="36068"/>
                  </a:lnTo>
                </a:path>
              </a:pathLst>
            </a:custGeom>
            <a:solidFill>
              <a:srgbClr val="9BBB59"/>
            </a:solidFill>
            <a:ln w="27093" cap="sq">
              <a:solidFill>
                <a:srgbClr val="9BBB59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71265" y="4097293"/>
            <a:ext cx="4286679" cy="27089"/>
            <a:chOff x="0" y="0"/>
            <a:chExt cx="5715572" cy="361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5508" cy="36068"/>
            </a:xfrm>
            <a:custGeom>
              <a:avLst/>
              <a:gdLst/>
              <a:ahLst/>
              <a:cxnLst/>
              <a:rect l="l" t="t" r="r" b="b"/>
              <a:pathLst>
                <a:path w="5715508" h="36068">
                  <a:moveTo>
                    <a:pt x="0" y="0"/>
                  </a:moveTo>
                  <a:lnTo>
                    <a:pt x="5715508" y="36068"/>
                  </a:lnTo>
                </a:path>
              </a:pathLst>
            </a:custGeom>
            <a:solidFill>
              <a:srgbClr val="8064A2"/>
            </a:solidFill>
            <a:ln w="27093" cap="sq">
              <a:solidFill>
                <a:srgbClr val="8064A2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71265" y="4933255"/>
            <a:ext cx="4286679" cy="27089"/>
            <a:chOff x="0" y="0"/>
            <a:chExt cx="5715572" cy="361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508" cy="36068"/>
            </a:xfrm>
            <a:custGeom>
              <a:avLst/>
              <a:gdLst/>
              <a:ahLst/>
              <a:cxnLst/>
              <a:rect l="l" t="t" r="r" b="b"/>
              <a:pathLst>
                <a:path w="5715508" h="36068">
                  <a:moveTo>
                    <a:pt x="0" y="0"/>
                  </a:moveTo>
                  <a:lnTo>
                    <a:pt x="5715508" y="36068"/>
                  </a:lnTo>
                </a:path>
              </a:pathLst>
            </a:custGeom>
            <a:solidFill>
              <a:srgbClr val="4BACC6"/>
            </a:solidFill>
            <a:ln w="27093" cap="sq">
              <a:solidFill>
                <a:srgbClr val="4BACC6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71265" y="5769216"/>
            <a:ext cx="4286679" cy="27089"/>
            <a:chOff x="0" y="0"/>
            <a:chExt cx="5715572" cy="361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508" cy="36068"/>
            </a:xfrm>
            <a:custGeom>
              <a:avLst/>
              <a:gdLst/>
              <a:ahLst/>
              <a:cxnLst/>
              <a:rect l="l" t="t" r="r" b="b"/>
              <a:pathLst>
                <a:path w="5715508" h="36068">
                  <a:moveTo>
                    <a:pt x="0" y="0"/>
                  </a:moveTo>
                  <a:lnTo>
                    <a:pt x="5715508" y="36068"/>
                  </a:lnTo>
                </a:path>
              </a:pathLst>
            </a:custGeom>
            <a:solidFill>
              <a:srgbClr val="F79646"/>
            </a:solidFill>
            <a:ln w="27093" cap="sq">
              <a:solidFill>
                <a:srgbClr val="F79646"/>
              </a:solidFill>
              <a:prstDash val="solid"/>
              <a:miter/>
            </a:ln>
          </p:spPr>
        </p:sp>
      </p:grpSp>
      <p:sp>
        <p:nvSpPr>
          <p:cNvPr id="15" name="Freeform 15"/>
          <p:cNvSpPr/>
          <p:nvPr/>
        </p:nvSpPr>
        <p:spPr>
          <a:xfrm>
            <a:off x="4565656" y="0"/>
            <a:ext cx="6027338" cy="7315200"/>
          </a:xfrm>
          <a:custGeom>
            <a:avLst/>
            <a:gdLst/>
            <a:ahLst/>
            <a:cxnLst/>
            <a:rect l="l" t="t" r="r" b="b"/>
            <a:pathLst>
              <a:path w="6027338" h="7315200">
                <a:moveTo>
                  <a:pt x="0" y="0"/>
                </a:moveTo>
                <a:lnTo>
                  <a:pt x="6027338" y="0"/>
                </a:lnTo>
                <a:lnTo>
                  <a:pt x="6027338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082" r="-4108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63553" y="2489073"/>
            <a:ext cx="4102103" cy="707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23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Leaf image is captured.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3553" y="3325044"/>
            <a:ext cx="4102103" cy="707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23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Image preprocessing is applied.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3553" y="4161006"/>
            <a:ext cx="4102103" cy="707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23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CNN analyzes disease patterns.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553" y="4996967"/>
            <a:ext cx="4102103" cy="707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23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GPU performs fast computation.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553" y="5832929"/>
            <a:ext cx="4102103" cy="707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23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Prediction results are displayed.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4810" y="348825"/>
            <a:ext cx="4259580" cy="1739055"/>
            <a:chOff x="0" y="0"/>
            <a:chExt cx="5679440" cy="23187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79442" cy="2318739"/>
            </a:xfrm>
            <a:custGeom>
              <a:avLst/>
              <a:gdLst/>
              <a:ahLst/>
              <a:cxnLst/>
              <a:rect l="l" t="t" r="r" b="b"/>
              <a:pathLst>
                <a:path w="5679442" h="2318739">
                  <a:moveTo>
                    <a:pt x="0" y="0"/>
                  </a:moveTo>
                  <a:lnTo>
                    <a:pt x="5679442" y="0"/>
                  </a:lnTo>
                  <a:lnTo>
                    <a:pt x="5679442" y="2318739"/>
                  </a:lnTo>
                  <a:lnTo>
                    <a:pt x="0" y="23187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82" r="-238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5679440" cy="238541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967"/>
                </a:lnSpc>
              </a:pPr>
              <a:r>
                <a:rPr lang="en-US" sz="330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Advantages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73082" y="1"/>
            <a:ext cx="4980518" cy="7313505"/>
            <a:chOff x="0" y="0"/>
            <a:chExt cx="6640690" cy="97513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40703" cy="9751314"/>
            </a:xfrm>
            <a:custGeom>
              <a:avLst/>
              <a:gdLst/>
              <a:ahLst/>
              <a:cxnLst/>
              <a:rect l="l" t="t" r="r" b="b"/>
              <a:pathLst>
                <a:path w="6640703" h="9751314">
                  <a:moveTo>
                    <a:pt x="0" y="0"/>
                  </a:moveTo>
                  <a:lnTo>
                    <a:pt x="6640703" y="0"/>
                  </a:lnTo>
                  <a:lnTo>
                    <a:pt x="6640703" y="9751314"/>
                  </a:lnTo>
                  <a:lnTo>
                    <a:pt x="0" y="9751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038" r="-75016" b="-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371265" y="2425360"/>
            <a:ext cx="4286679" cy="27089"/>
            <a:chOff x="0" y="0"/>
            <a:chExt cx="5715572" cy="361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508" cy="36068"/>
            </a:xfrm>
            <a:custGeom>
              <a:avLst/>
              <a:gdLst/>
              <a:ahLst/>
              <a:cxnLst/>
              <a:rect l="l" t="t" r="r" b="b"/>
              <a:pathLst>
                <a:path w="5715508" h="36068">
                  <a:moveTo>
                    <a:pt x="0" y="0"/>
                  </a:moveTo>
                  <a:lnTo>
                    <a:pt x="5715508" y="36068"/>
                  </a:lnTo>
                </a:path>
              </a:pathLst>
            </a:custGeom>
            <a:solidFill>
              <a:srgbClr val="C0504D"/>
            </a:solidFill>
            <a:ln w="27093" cap="sq">
              <a:solidFill>
                <a:srgbClr val="C0504D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478793" y="2504313"/>
            <a:ext cx="4071623" cy="67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7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Early disease detection.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71265" y="3261331"/>
            <a:ext cx="4286679" cy="27089"/>
            <a:chOff x="0" y="0"/>
            <a:chExt cx="5715572" cy="361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508" cy="36068"/>
            </a:xfrm>
            <a:custGeom>
              <a:avLst/>
              <a:gdLst/>
              <a:ahLst/>
              <a:cxnLst/>
              <a:rect l="l" t="t" r="r" b="b"/>
              <a:pathLst>
                <a:path w="5715508" h="36068">
                  <a:moveTo>
                    <a:pt x="0" y="0"/>
                  </a:moveTo>
                  <a:lnTo>
                    <a:pt x="5715508" y="36068"/>
                  </a:lnTo>
                </a:path>
              </a:pathLst>
            </a:custGeom>
            <a:solidFill>
              <a:srgbClr val="9BBB59"/>
            </a:solidFill>
            <a:ln w="27093" cap="sq">
              <a:solidFill>
                <a:srgbClr val="9BBB59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478793" y="3340284"/>
            <a:ext cx="4071623" cy="67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7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crop losses.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71265" y="4097293"/>
            <a:ext cx="4286679" cy="27089"/>
            <a:chOff x="0" y="0"/>
            <a:chExt cx="5715572" cy="361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508" cy="36068"/>
            </a:xfrm>
            <a:custGeom>
              <a:avLst/>
              <a:gdLst/>
              <a:ahLst/>
              <a:cxnLst/>
              <a:rect l="l" t="t" r="r" b="b"/>
              <a:pathLst>
                <a:path w="5715508" h="36068">
                  <a:moveTo>
                    <a:pt x="0" y="0"/>
                  </a:moveTo>
                  <a:lnTo>
                    <a:pt x="5715508" y="36068"/>
                  </a:lnTo>
                </a:path>
              </a:pathLst>
            </a:custGeom>
            <a:solidFill>
              <a:srgbClr val="8064A2"/>
            </a:solidFill>
            <a:ln w="27093" cap="sq">
              <a:solidFill>
                <a:srgbClr val="8064A2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478793" y="4176246"/>
            <a:ext cx="4071623" cy="67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7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Saves time and labor.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71265" y="4933255"/>
            <a:ext cx="4286679" cy="27089"/>
            <a:chOff x="0" y="0"/>
            <a:chExt cx="5715572" cy="361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15508" cy="36068"/>
            </a:xfrm>
            <a:custGeom>
              <a:avLst/>
              <a:gdLst/>
              <a:ahLst/>
              <a:cxnLst/>
              <a:rect l="l" t="t" r="r" b="b"/>
              <a:pathLst>
                <a:path w="5715508" h="36068">
                  <a:moveTo>
                    <a:pt x="0" y="0"/>
                  </a:moveTo>
                  <a:lnTo>
                    <a:pt x="5715508" y="36068"/>
                  </a:lnTo>
                </a:path>
              </a:pathLst>
            </a:custGeom>
            <a:solidFill>
              <a:srgbClr val="4BACC6"/>
            </a:solidFill>
            <a:ln w="27093" cap="sq">
              <a:solidFill>
                <a:srgbClr val="4BACC6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478793" y="5012207"/>
            <a:ext cx="4071623" cy="67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7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 prediction accuracy.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71265" y="5769216"/>
            <a:ext cx="4286679" cy="27089"/>
            <a:chOff x="0" y="0"/>
            <a:chExt cx="5715572" cy="361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508" cy="36068"/>
            </a:xfrm>
            <a:custGeom>
              <a:avLst/>
              <a:gdLst/>
              <a:ahLst/>
              <a:cxnLst/>
              <a:rect l="l" t="t" r="r" b="b"/>
              <a:pathLst>
                <a:path w="5715508" h="36068">
                  <a:moveTo>
                    <a:pt x="0" y="0"/>
                  </a:moveTo>
                  <a:lnTo>
                    <a:pt x="5715508" y="36068"/>
                  </a:lnTo>
                </a:path>
              </a:pathLst>
            </a:custGeom>
            <a:solidFill>
              <a:srgbClr val="F79646"/>
            </a:solidFill>
            <a:ln w="27093" cap="sq">
              <a:solidFill>
                <a:srgbClr val="F79646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478793" y="5848169"/>
            <a:ext cx="4071623" cy="67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7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smart agriculture.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42191" y="400777"/>
            <a:ext cx="4801686" cy="1595120"/>
            <a:chOff x="0" y="0"/>
            <a:chExt cx="6402248" cy="21268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02250" cy="2126823"/>
            </a:xfrm>
            <a:custGeom>
              <a:avLst/>
              <a:gdLst/>
              <a:ahLst/>
              <a:cxnLst/>
              <a:rect l="l" t="t" r="r" b="b"/>
              <a:pathLst>
                <a:path w="6402250" h="2126823">
                  <a:moveTo>
                    <a:pt x="0" y="0"/>
                  </a:moveTo>
                  <a:lnTo>
                    <a:pt x="6402250" y="0"/>
                  </a:lnTo>
                  <a:lnTo>
                    <a:pt x="6402250" y="2126823"/>
                  </a:lnTo>
                  <a:lnTo>
                    <a:pt x="0" y="21268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54" b="-865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6402248" cy="22030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7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APPLICATIONS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4391" y="1742270"/>
            <a:ext cx="1477643" cy="496870"/>
            <a:chOff x="0" y="0"/>
            <a:chExt cx="2011362" cy="6763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1366" cy="676335"/>
            </a:xfrm>
            <a:custGeom>
              <a:avLst/>
              <a:gdLst/>
              <a:ahLst/>
              <a:cxnLst/>
              <a:rect l="l" t="t" r="r" b="b"/>
              <a:pathLst>
                <a:path w="2011366" h="676335">
                  <a:moveTo>
                    <a:pt x="0" y="0"/>
                  </a:moveTo>
                  <a:lnTo>
                    <a:pt x="2011366" y="0"/>
                  </a:lnTo>
                  <a:lnTo>
                    <a:pt x="2011366" y="676335"/>
                  </a:lnTo>
                  <a:lnTo>
                    <a:pt x="0" y="676335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l="-4929" r="-4929" b="-2732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11362" cy="6953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12"/>
                </a:lnSpc>
              </a:pPr>
              <a:r>
                <a:rPr lang="en-US" sz="14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Used in smart farming.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67534" y="400777"/>
            <a:ext cx="2076934" cy="3256823"/>
            <a:chOff x="0" y="0"/>
            <a:chExt cx="3197746" cy="5014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97750" cy="5014331"/>
            </a:xfrm>
            <a:custGeom>
              <a:avLst/>
              <a:gdLst/>
              <a:ahLst/>
              <a:cxnLst/>
              <a:rect l="l" t="t" r="r" b="b"/>
              <a:pathLst>
                <a:path w="3197750" h="5014331">
                  <a:moveTo>
                    <a:pt x="0" y="0"/>
                  </a:moveTo>
                  <a:lnTo>
                    <a:pt x="3197750" y="0"/>
                  </a:lnTo>
                  <a:lnTo>
                    <a:pt x="3197750" y="5014331"/>
                  </a:lnTo>
                  <a:lnTo>
                    <a:pt x="0" y="50143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00" r="33999" b="828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3197746" cy="5033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12"/>
                </a:lnSpc>
              </a:pPr>
              <a:r>
                <a:rPr lang="en-US" sz="14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Supports greenhouse monitoring.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4391" y="1198337"/>
            <a:ext cx="1808496" cy="3032973"/>
            <a:chOff x="0" y="0"/>
            <a:chExt cx="2642240" cy="44312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42244" cy="4431194"/>
            </a:xfrm>
            <a:custGeom>
              <a:avLst/>
              <a:gdLst/>
              <a:ahLst/>
              <a:cxnLst/>
              <a:rect l="l" t="t" r="r" b="b"/>
              <a:pathLst>
                <a:path w="2642244" h="4431194">
                  <a:moveTo>
                    <a:pt x="0" y="0"/>
                  </a:moveTo>
                  <a:lnTo>
                    <a:pt x="2642244" y="0"/>
                  </a:lnTo>
                  <a:lnTo>
                    <a:pt x="2642244" y="4431194"/>
                  </a:lnTo>
                  <a:lnTo>
                    <a:pt x="0" y="44311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52" r="20124" b="8056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642240" cy="44502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12"/>
                </a:lnSpc>
              </a:pPr>
              <a:r>
                <a:rPr lang="en-US" sz="14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Useful for agricultural research.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67534" y="1437284"/>
            <a:ext cx="1635345" cy="3264016"/>
            <a:chOff x="0" y="0"/>
            <a:chExt cx="2297929" cy="45864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97933" cy="4586452"/>
            </a:xfrm>
            <a:custGeom>
              <a:avLst/>
              <a:gdLst/>
              <a:ahLst/>
              <a:cxnLst/>
              <a:rect l="l" t="t" r="r" b="b"/>
              <a:pathLst>
                <a:path w="2297933" h="4586452">
                  <a:moveTo>
                    <a:pt x="0" y="0"/>
                  </a:moveTo>
                  <a:lnTo>
                    <a:pt x="2297933" y="0"/>
                  </a:lnTo>
                  <a:lnTo>
                    <a:pt x="2297933" y="4586452"/>
                  </a:lnTo>
                  <a:lnTo>
                    <a:pt x="0" y="45864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314" r="8155" b="8122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297929" cy="46055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12"/>
                </a:lnSpc>
              </a:pPr>
              <a:r>
                <a:rPr lang="en-US" sz="14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 integrate with drones.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4391" y="1198337"/>
            <a:ext cx="1808496" cy="4642355"/>
            <a:chOff x="0" y="0"/>
            <a:chExt cx="2536483" cy="651107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36487" cy="6511041"/>
            </a:xfrm>
            <a:custGeom>
              <a:avLst/>
              <a:gdLst/>
              <a:ahLst/>
              <a:cxnLst/>
              <a:rect l="l" t="t" r="r" b="b"/>
              <a:pathLst>
                <a:path w="2536487" h="6511041">
                  <a:moveTo>
                    <a:pt x="0" y="0"/>
                  </a:moveTo>
                  <a:lnTo>
                    <a:pt x="2536487" y="0"/>
                  </a:lnTo>
                  <a:lnTo>
                    <a:pt x="2536487" y="6511041"/>
                  </a:lnTo>
                  <a:lnTo>
                    <a:pt x="0" y="65110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09" r="16793" b="8677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536483" cy="6530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12"/>
                </a:lnSpc>
              </a:pPr>
              <a:endParaRPr/>
            </a:p>
            <a:p>
              <a:pPr algn="l">
                <a:lnSpc>
                  <a:spcPts val="1612"/>
                </a:lnSpc>
              </a:pPr>
              <a:endParaRPr/>
            </a:p>
            <a:p>
              <a:pPr algn="l">
                <a:lnSpc>
                  <a:spcPts val="1612"/>
                </a:lnSpc>
              </a:pPr>
              <a:r>
                <a:rPr lang="en-US" sz="14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Supports mobile applications.</a:t>
              </a:r>
            </a:p>
            <a:p>
              <a:pPr algn="l">
                <a:lnSpc>
                  <a:spcPts val="1612"/>
                </a:lnSpc>
              </a:pPr>
              <a:endParaRPr lang="en-US" sz="14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1612"/>
                </a:lnSpc>
              </a:pPr>
              <a:endParaRPr lang="en-US" sz="149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20" name="Freeform 20"/>
          <p:cNvSpPr/>
          <p:nvPr/>
        </p:nvSpPr>
        <p:spPr>
          <a:xfrm>
            <a:off x="0" y="3860134"/>
            <a:ext cx="9753600" cy="3961117"/>
          </a:xfrm>
          <a:custGeom>
            <a:avLst/>
            <a:gdLst/>
            <a:ahLst/>
            <a:cxnLst/>
            <a:rect l="l" t="t" r="r" b="b"/>
            <a:pathLst>
              <a:path w="9753600" h="3961117">
                <a:moveTo>
                  <a:pt x="0" y="0"/>
                </a:moveTo>
                <a:lnTo>
                  <a:pt x="9753600" y="0"/>
                </a:lnTo>
                <a:lnTo>
                  <a:pt x="9753600" y="3961117"/>
                </a:lnTo>
                <a:lnTo>
                  <a:pt x="0" y="3961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972" b="-23972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46856" y="6517005"/>
            <a:ext cx="1671486" cy="58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81216" y="6517005"/>
            <a:ext cx="2407981" cy="58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Early blight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18900" y="6517005"/>
            <a:ext cx="2948898" cy="58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Bacterial spot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0"/>
            <a:ext cx="9753600" cy="1681020"/>
            <a:chOff x="0" y="0"/>
            <a:chExt cx="13004800" cy="2241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2241296"/>
            </a:xfrm>
            <a:custGeom>
              <a:avLst/>
              <a:gdLst/>
              <a:ahLst/>
              <a:cxnLst/>
              <a:rect l="l" t="t" r="r" b="b"/>
              <a:pathLst>
                <a:path w="13004800" h="2241296">
                  <a:moveTo>
                    <a:pt x="13004800" y="0"/>
                  </a:moveTo>
                  <a:lnTo>
                    <a:pt x="0" y="0"/>
                  </a:lnTo>
                  <a:lnTo>
                    <a:pt x="0" y="2241296"/>
                  </a:lnTo>
                  <a:lnTo>
                    <a:pt x="13004800" y="2241296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96000"/>
                  </a:srgbClr>
                </a:gs>
                <a:gs pos="100000">
                  <a:srgbClr val="376092">
                    <a:alpha val="100000"/>
                  </a:srgbClr>
                </a:gs>
              </a:gsLst>
              <a:lin ang="8400000"/>
            </a:grad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6503089" y="0"/>
            <a:ext cx="3250511" cy="1681505"/>
            <a:chOff x="0" y="0"/>
            <a:chExt cx="4334015" cy="22420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4002" cy="2242058"/>
            </a:xfrm>
            <a:custGeom>
              <a:avLst/>
              <a:gdLst/>
              <a:ahLst/>
              <a:cxnLst/>
              <a:rect l="l" t="t" r="r" b="b"/>
              <a:pathLst>
                <a:path w="4334002" h="2242058">
                  <a:moveTo>
                    <a:pt x="4334002" y="0"/>
                  </a:moveTo>
                  <a:lnTo>
                    <a:pt x="0" y="0"/>
                  </a:lnTo>
                  <a:lnTo>
                    <a:pt x="0" y="2242058"/>
                  </a:lnTo>
                  <a:lnTo>
                    <a:pt x="4334002" y="2242058"/>
                  </a:lnTo>
                  <a:close/>
                </a:path>
              </a:pathLst>
            </a:custGeom>
            <a:gradFill rotWithShape="1">
              <a:gsLst>
                <a:gs pos="19000">
                  <a:srgbClr val="254061">
                    <a:alpha val="68000"/>
                  </a:srgbClr>
                </a:gs>
                <a:gs pos="100000">
                  <a:srgbClr val="4F81BD">
                    <a:alpha val="79000"/>
                  </a:srgbClr>
                </a:gs>
              </a:gsLst>
              <a:lin ang="8400000"/>
            </a:gradFill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4036028" y="-4036028"/>
            <a:ext cx="1681544" cy="9753600"/>
            <a:chOff x="0" y="0"/>
            <a:chExt cx="2242058" cy="13004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42058" cy="13004800"/>
            </a:xfrm>
            <a:custGeom>
              <a:avLst/>
              <a:gdLst/>
              <a:ahLst/>
              <a:cxnLst/>
              <a:rect l="l" t="t" r="r" b="b"/>
              <a:pathLst>
                <a:path w="2242058" h="13004800">
                  <a:moveTo>
                    <a:pt x="0" y="0"/>
                  </a:moveTo>
                  <a:lnTo>
                    <a:pt x="2242058" y="0"/>
                  </a:lnTo>
                  <a:lnTo>
                    <a:pt x="2242058" y="13004800"/>
                  </a:lnTo>
                  <a:lnTo>
                    <a:pt x="0" y="13004800"/>
                  </a:lnTo>
                  <a:close/>
                </a:path>
              </a:pathLst>
            </a:custGeom>
            <a:gradFill rotWithShape="1">
              <a:gsLst>
                <a:gs pos="23000">
                  <a:srgbClr val="4F81BD">
                    <a:alpha val="0"/>
                  </a:srgbClr>
                </a:gs>
                <a:gs pos="99000">
                  <a:srgbClr val="000000">
                    <a:alpha val="74000"/>
                  </a:srgbClr>
                </a:gs>
              </a:gsLst>
              <a:lin ang="15000000"/>
            </a:gradFill>
          </p:spPr>
        </p:sp>
      </p:grpSp>
      <p:grpSp>
        <p:nvGrpSpPr>
          <p:cNvPr id="8" name="Group 8"/>
          <p:cNvGrpSpPr/>
          <p:nvPr/>
        </p:nvGrpSpPr>
        <p:grpSpPr>
          <a:xfrm>
            <a:off x="1097280" y="372123"/>
            <a:ext cx="8035223" cy="936241"/>
            <a:chOff x="0" y="0"/>
            <a:chExt cx="10713631" cy="12483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13626" cy="1248326"/>
            </a:xfrm>
            <a:custGeom>
              <a:avLst/>
              <a:gdLst/>
              <a:ahLst/>
              <a:cxnLst/>
              <a:rect l="l" t="t" r="r" b="b"/>
              <a:pathLst>
                <a:path w="10713626" h="1248326">
                  <a:moveTo>
                    <a:pt x="0" y="0"/>
                  </a:moveTo>
                  <a:lnTo>
                    <a:pt x="10713626" y="0"/>
                  </a:lnTo>
                  <a:lnTo>
                    <a:pt x="10713626" y="1248326"/>
                  </a:lnTo>
                  <a:lnTo>
                    <a:pt x="0" y="12483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228" b="-11722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10713631" cy="13245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73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Future Enhancements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97470" y="2253644"/>
            <a:ext cx="1029376" cy="1029376"/>
            <a:chOff x="0" y="0"/>
            <a:chExt cx="1372502" cy="13725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213"/>
                    <a:pt x="307213" y="0"/>
                    <a:pt x="686308" y="0"/>
                  </a:cubicBezTo>
                  <a:cubicBezTo>
                    <a:pt x="1065403" y="0"/>
                    <a:pt x="1372616" y="307213"/>
                    <a:pt x="1372616" y="686308"/>
                  </a:cubicBezTo>
                  <a:cubicBezTo>
                    <a:pt x="1372616" y="1065403"/>
                    <a:pt x="1065403" y="1372616"/>
                    <a:pt x="686308" y="1372616"/>
                  </a:cubicBezTo>
                  <a:cubicBezTo>
                    <a:pt x="307213" y="1372616"/>
                    <a:pt x="0" y="1065276"/>
                    <a:pt x="0" y="686308"/>
                  </a:cubicBezTo>
                  <a:close/>
                </a:path>
              </a:pathLst>
            </a:custGeom>
            <a:solidFill>
              <a:srgbClr val="C0504D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616840" y="2473014"/>
            <a:ext cx="590626" cy="590626"/>
            <a:chOff x="0" y="0"/>
            <a:chExt cx="787502" cy="7875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7527" cy="787527"/>
            </a:xfrm>
            <a:custGeom>
              <a:avLst/>
              <a:gdLst/>
              <a:ahLst/>
              <a:cxnLst/>
              <a:rect l="l" t="t" r="r" b="b"/>
              <a:pathLst>
                <a:path w="787527" h="787527">
                  <a:moveTo>
                    <a:pt x="0" y="0"/>
                  </a:moveTo>
                  <a:lnTo>
                    <a:pt x="787527" y="0"/>
                  </a:lnTo>
                  <a:lnTo>
                    <a:pt x="787527" y="787527"/>
                  </a:lnTo>
                  <a:lnTo>
                    <a:pt x="0" y="78752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063323" y="3589039"/>
            <a:ext cx="1697660" cy="694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IoT sensors can improve monitoring.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380280" y="2253644"/>
            <a:ext cx="1029376" cy="1029376"/>
            <a:chOff x="0" y="0"/>
            <a:chExt cx="1372502" cy="137250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213"/>
                    <a:pt x="307213" y="0"/>
                    <a:pt x="686308" y="0"/>
                  </a:cubicBezTo>
                  <a:cubicBezTo>
                    <a:pt x="1065403" y="0"/>
                    <a:pt x="1372616" y="307213"/>
                    <a:pt x="1372616" y="686308"/>
                  </a:cubicBezTo>
                  <a:cubicBezTo>
                    <a:pt x="1372616" y="1065403"/>
                    <a:pt x="1065403" y="1372616"/>
                    <a:pt x="686308" y="1372616"/>
                  </a:cubicBezTo>
                  <a:cubicBezTo>
                    <a:pt x="307213" y="1372616"/>
                    <a:pt x="0" y="1065276"/>
                    <a:pt x="0" y="686308"/>
                  </a:cubicBezTo>
                  <a:close/>
                </a:path>
              </a:pathLst>
            </a:custGeom>
            <a:solidFill>
              <a:srgbClr val="9BBB59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3599659" y="2473014"/>
            <a:ext cx="590626" cy="590626"/>
            <a:chOff x="0" y="0"/>
            <a:chExt cx="787502" cy="78750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87527" cy="787527"/>
            </a:xfrm>
            <a:custGeom>
              <a:avLst/>
              <a:gdLst/>
              <a:ahLst/>
              <a:cxnLst/>
              <a:rect l="l" t="t" r="r" b="b"/>
              <a:pathLst>
                <a:path w="787527" h="787527">
                  <a:moveTo>
                    <a:pt x="0" y="0"/>
                  </a:moveTo>
                  <a:lnTo>
                    <a:pt x="787527" y="0"/>
                  </a:lnTo>
                  <a:lnTo>
                    <a:pt x="787527" y="787527"/>
                  </a:lnTo>
                  <a:lnTo>
                    <a:pt x="0" y="78752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3046143" y="3589039"/>
            <a:ext cx="1697660" cy="694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Cloud platforms enable remote access.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363099" y="2253644"/>
            <a:ext cx="1029376" cy="1029376"/>
            <a:chOff x="0" y="0"/>
            <a:chExt cx="1372502" cy="137250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213"/>
                    <a:pt x="307213" y="0"/>
                    <a:pt x="686308" y="0"/>
                  </a:cubicBezTo>
                  <a:cubicBezTo>
                    <a:pt x="1065403" y="0"/>
                    <a:pt x="1372616" y="307213"/>
                    <a:pt x="1372616" y="686308"/>
                  </a:cubicBezTo>
                  <a:cubicBezTo>
                    <a:pt x="1372616" y="1065403"/>
                    <a:pt x="1065403" y="1372616"/>
                    <a:pt x="686308" y="1372616"/>
                  </a:cubicBezTo>
                  <a:cubicBezTo>
                    <a:pt x="307213" y="1372616"/>
                    <a:pt x="0" y="1065276"/>
                    <a:pt x="0" y="686308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5582469" y="2473014"/>
            <a:ext cx="590626" cy="590626"/>
            <a:chOff x="0" y="0"/>
            <a:chExt cx="787502" cy="78750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87527" cy="787527"/>
            </a:xfrm>
            <a:custGeom>
              <a:avLst/>
              <a:gdLst/>
              <a:ahLst/>
              <a:cxnLst/>
              <a:rect l="l" t="t" r="r" b="b"/>
              <a:pathLst>
                <a:path w="787527" h="787527">
                  <a:moveTo>
                    <a:pt x="0" y="0"/>
                  </a:moveTo>
                  <a:lnTo>
                    <a:pt x="787527" y="0"/>
                  </a:lnTo>
                  <a:lnTo>
                    <a:pt x="787527" y="787527"/>
                  </a:lnTo>
                  <a:lnTo>
                    <a:pt x="0" y="78752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5028952" y="3589039"/>
            <a:ext cx="1697660" cy="694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More crop diseases can be added.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345909" y="2253644"/>
            <a:ext cx="1029376" cy="1029376"/>
            <a:chOff x="0" y="0"/>
            <a:chExt cx="1372502" cy="137250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213"/>
                    <a:pt x="307213" y="0"/>
                    <a:pt x="686308" y="0"/>
                  </a:cubicBezTo>
                  <a:cubicBezTo>
                    <a:pt x="1065403" y="0"/>
                    <a:pt x="1372616" y="307213"/>
                    <a:pt x="1372616" y="686308"/>
                  </a:cubicBezTo>
                  <a:cubicBezTo>
                    <a:pt x="1372616" y="1065403"/>
                    <a:pt x="1065403" y="1372616"/>
                    <a:pt x="686308" y="1372616"/>
                  </a:cubicBezTo>
                  <a:cubicBezTo>
                    <a:pt x="307213" y="1372616"/>
                    <a:pt x="0" y="1065276"/>
                    <a:pt x="0" y="686308"/>
                  </a:cubicBezTo>
                  <a:close/>
                </a:path>
              </a:pathLst>
            </a:custGeom>
            <a:solidFill>
              <a:srgbClr val="4BACC6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565279" y="2473014"/>
            <a:ext cx="590626" cy="590626"/>
            <a:chOff x="0" y="0"/>
            <a:chExt cx="787502" cy="78750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87527" cy="787527"/>
            </a:xfrm>
            <a:custGeom>
              <a:avLst/>
              <a:gdLst/>
              <a:ahLst/>
              <a:cxnLst/>
              <a:rect l="l" t="t" r="r" b="b"/>
              <a:pathLst>
                <a:path w="787527" h="787527">
                  <a:moveTo>
                    <a:pt x="0" y="0"/>
                  </a:moveTo>
                  <a:lnTo>
                    <a:pt x="787527" y="0"/>
                  </a:lnTo>
                  <a:lnTo>
                    <a:pt x="787527" y="787527"/>
                  </a:lnTo>
                  <a:lnTo>
                    <a:pt x="0" y="78752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7011762" y="3589039"/>
            <a:ext cx="1697660" cy="694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Advanced AI models improve accuracy.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4371689" y="4700521"/>
            <a:ext cx="1029376" cy="1029376"/>
            <a:chOff x="0" y="0"/>
            <a:chExt cx="1372502" cy="137250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72616" cy="1372616"/>
            </a:xfrm>
            <a:custGeom>
              <a:avLst/>
              <a:gdLst/>
              <a:ahLst/>
              <a:cxnLst/>
              <a:rect l="l" t="t" r="r" b="b"/>
              <a:pathLst>
                <a:path w="1372616" h="1372616">
                  <a:moveTo>
                    <a:pt x="0" y="686308"/>
                  </a:moveTo>
                  <a:cubicBezTo>
                    <a:pt x="0" y="307213"/>
                    <a:pt x="307213" y="0"/>
                    <a:pt x="686308" y="0"/>
                  </a:cubicBezTo>
                  <a:cubicBezTo>
                    <a:pt x="1065403" y="0"/>
                    <a:pt x="1372616" y="307213"/>
                    <a:pt x="1372616" y="686308"/>
                  </a:cubicBezTo>
                  <a:cubicBezTo>
                    <a:pt x="1372616" y="1065403"/>
                    <a:pt x="1065403" y="1372616"/>
                    <a:pt x="686308" y="1372616"/>
                  </a:cubicBezTo>
                  <a:cubicBezTo>
                    <a:pt x="307213" y="1372616"/>
                    <a:pt x="0" y="1065276"/>
                    <a:pt x="0" y="686308"/>
                  </a:cubicBezTo>
                  <a:close/>
                </a:path>
              </a:pathLst>
            </a:custGeom>
            <a:solidFill>
              <a:srgbClr val="F79646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4591060" y="4919891"/>
            <a:ext cx="590626" cy="590626"/>
            <a:chOff x="0" y="0"/>
            <a:chExt cx="787502" cy="78750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87527" cy="787527"/>
            </a:xfrm>
            <a:custGeom>
              <a:avLst/>
              <a:gdLst/>
              <a:ahLst/>
              <a:cxnLst/>
              <a:rect l="l" t="t" r="r" b="b"/>
              <a:pathLst>
                <a:path w="787527" h="787527">
                  <a:moveTo>
                    <a:pt x="0" y="0"/>
                  </a:moveTo>
                  <a:lnTo>
                    <a:pt x="787527" y="0"/>
                  </a:lnTo>
                  <a:lnTo>
                    <a:pt x="787527" y="787527"/>
                  </a:lnTo>
                  <a:lnTo>
                    <a:pt x="0" y="78752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4037543" y="6035916"/>
            <a:ext cx="1697660" cy="694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Mobile app integration is possible.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341" y="772154"/>
            <a:ext cx="4801686" cy="1595123"/>
            <a:chOff x="0" y="0"/>
            <a:chExt cx="6402248" cy="21268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02250" cy="2126827"/>
            </a:xfrm>
            <a:custGeom>
              <a:avLst/>
              <a:gdLst/>
              <a:ahLst/>
              <a:cxnLst/>
              <a:rect l="l" t="t" r="r" b="b"/>
              <a:pathLst>
                <a:path w="6402250" h="2126827">
                  <a:moveTo>
                    <a:pt x="0" y="0"/>
                  </a:moveTo>
                  <a:lnTo>
                    <a:pt x="6402250" y="0"/>
                  </a:lnTo>
                  <a:lnTo>
                    <a:pt x="6402250" y="2126827"/>
                  </a:lnTo>
                  <a:lnTo>
                    <a:pt x="0" y="21268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54" b="-865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6402248" cy="22030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7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60781" y="2573026"/>
            <a:ext cx="4618806" cy="392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3364" lvl="1" indent="-116682" algn="l">
              <a:lnSpc>
                <a:spcPts val="2175"/>
              </a:lnSpc>
              <a:buFont typeface="Arial"/>
              <a:buChar char="•"/>
            </a:pPr>
            <a:r>
              <a:rPr lang="en-US" sz="18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improves plant disease detection.</a:t>
            </a:r>
          </a:p>
          <a:p>
            <a:pPr marL="233364" lvl="1" indent="-116682" algn="l">
              <a:lnSpc>
                <a:spcPts val="2175"/>
              </a:lnSpc>
              <a:buFont typeface="Arial"/>
              <a:buChar char="•"/>
            </a:pPr>
            <a:r>
              <a:rPr lang="en-US" sz="18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CNN models provide accurate predictions.</a:t>
            </a:r>
          </a:p>
          <a:p>
            <a:pPr marL="233364" lvl="1" indent="-116682" algn="l">
              <a:lnSpc>
                <a:spcPts val="2175"/>
              </a:lnSpc>
              <a:buFont typeface="Arial"/>
              <a:buChar char="•"/>
            </a:pPr>
            <a:r>
              <a:rPr lang="en-US" sz="18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NVIDIA GPU accelerates processing.</a:t>
            </a:r>
          </a:p>
          <a:p>
            <a:pPr marL="233364" lvl="1" indent="-116682" algn="l">
              <a:lnSpc>
                <a:spcPts val="2175"/>
              </a:lnSpc>
              <a:buFont typeface="Arial"/>
              <a:buChar char="•"/>
            </a:pPr>
            <a:r>
              <a:rPr lang="en-US" sz="18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reduces crop damage.</a:t>
            </a:r>
          </a:p>
          <a:p>
            <a:pPr marL="233364" lvl="1" indent="-116682" algn="l">
              <a:lnSpc>
                <a:spcPts val="2175"/>
              </a:lnSpc>
              <a:buFont typeface="Arial"/>
              <a:buChar char="•"/>
            </a:pPr>
            <a:r>
              <a:rPr lang="en-US" sz="18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Smart farming improves productivity.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759548" y="10"/>
            <a:ext cx="3994052" cy="7315190"/>
            <a:chOff x="0" y="0"/>
            <a:chExt cx="5325402" cy="9753587"/>
          </a:xfrm>
        </p:grpSpPr>
        <p:sp>
          <p:nvSpPr>
            <p:cNvPr id="7" name="Freeform 7" descr="Cornfields with bright sky"/>
            <p:cNvSpPr/>
            <p:nvPr/>
          </p:nvSpPr>
          <p:spPr>
            <a:xfrm>
              <a:off x="0" y="0"/>
              <a:ext cx="5325364" cy="9753600"/>
            </a:xfrm>
            <a:custGeom>
              <a:avLst/>
              <a:gdLst/>
              <a:ahLst/>
              <a:cxnLst/>
              <a:rect l="l" t="t" r="r" b="b"/>
              <a:pathLst>
                <a:path w="5325364" h="9753600">
                  <a:moveTo>
                    <a:pt x="0" y="0"/>
                  </a:moveTo>
                  <a:lnTo>
                    <a:pt x="5325364" y="0"/>
                  </a:lnTo>
                  <a:lnTo>
                    <a:pt x="532536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614" r="-102179" b="1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876404" y="2085964"/>
            <a:ext cx="4701809" cy="1643074"/>
            <a:chOff x="-1143008" y="0"/>
            <a:chExt cx="6269078" cy="33337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26070" cy="1193004"/>
            </a:xfrm>
            <a:custGeom>
              <a:avLst/>
              <a:gdLst/>
              <a:ahLst/>
              <a:cxnLst/>
              <a:rect l="l" t="t" r="r" b="b"/>
              <a:pathLst>
                <a:path w="5126070" h="1193004">
                  <a:moveTo>
                    <a:pt x="0" y="0"/>
                  </a:moveTo>
                  <a:lnTo>
                    <a:pt x="5126070" y="0"/>
                  </a:lnTo>
                  <a:lnTo>
                    <a:pt x="5126070" y="1193004"/>
                  </a:lnTo>
                  <a:lnTo>
                    <a:pt x="0" y="1193004"/>
                  </a:lnTo>
                  <a:close/>
                </a:path>
              </a:pathLst>
            </a:custGeom>
            <a:blipFill>
              <a:blip r:embed="rId2" cstate="print">
                <a:alphaModFix amt="0"/>
              </a:blip>
              <a:stretch>
                <a:fillRect t="-33723" b="-3372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-1143008" y="1714512"/>
              <a:ext cx="6173833" cy="161926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2175"/>
                </a:lnSpc>
              </a:pPr>
              <a:r>
                <a:rPr lang="en-US" sz="6000" b="1" dirty="0" smtClean="0">
                  <a:solidFill>
                    <a:srgbClr val="1F497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THANK YOU</a:t>
              </a:r>
              <a:endParaRPr lang="en-US" sz="6000" b="1" dirty="0">
                <a:solidFill>
                  <a:srgbClr val="1F497D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161892" y="8550289"/>
            <a:ext cx="45719" cy="45719"/>
          </a:xfrm>
          <a:custGeom>
            <a:avLst/>
            <a:gdLst/>
            <a:ahLst/>
            <a:cxnLst/>
            <a:rect l="l" t="t" r="r" b="b"/>
            <a:pathLst>
              <a:path w="4990938" h="7321582">
                <a:moveTo>
                  <a:pt x="0" y="0"/>
                </a:moveTo>
                <a:lnTo>
                  <a:pt x="4990938" y="0"/>
                </a:lnTo>
                <a:lnTo>
                  <a:pt x="4990938" y="7321582"/>
                </a:lnTo>
                <a:lnTo>
                  <a:pt x="0" y="7321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 smtClean="0"/>
              <a:t>..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422</Words>
  <Application>Microsoft Office PowerPoint</Application>
  <PresentationFormat>Custom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 (MS)</vt:lpstr>
      <vt:lpstr>Canva Sans Bold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vidya_royal@.pptx</dc:title>
  <dc:creator>Meghana HR</dc:creator>
  <cp:lastModifiedBy>Hp</cp:lastModifiedBy>
  <cp:revision>4</cp:revision>
  <dcterms:created xsi:type="dcterms:W3CDTF">2006-08-16T00:00:00Z</dcterms:created>
  <dcterms:modified xsi:type="dcterms:W3CDTF">2026-08-18T17:25:55Z</dcterms:modified>
  <dc:identifier>DAHMO-yhVMA</dc:identifier>
</cp:coreProperties>
</file>